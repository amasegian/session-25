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build the model ladder carefully (PCA → nonlinear → the three regularized variants → the VAE), then spend real time on a few scientific deep dives. The through-line is always the manifold.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the applications half is deliberately only four examples, each treated properly, rather than a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carefully. Every model is the previous one plus one new idea to fix a specific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dimensionality gap, not a definition. The three goals — compress, represent, generate — are the whole motivation.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surprises worth dwelling on: the optimum is exactly PCA, and the landscape has no bad local minima. That globality is special to the linear case — everything nonlinear is about the leftover symmetry.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picture: the eye sees PCA fail and the manifold methods succeed. Then name the cost — a far bigger symmetry group, hence worse identifiability.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forks the lecture: either narrow the bottleneck, or keep it wide and constrain what the code is sensitive to. The next three models take the second road. Also plant the likelihood point for the science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connective slide. Hold the tangent/normal picture up; the three variants are just different ways to say “don't be sensitive off the manifold.”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sparse-coding heritage and the V1 result — that's the “aha” that makes sparse AEs feel principled rather than a hack.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beautiful identity in the subject and the seed of diffusion. Stress: the corruption replaces the bottleneck as the thing that enforces manifold-awareness.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slide of the trio: write the small-noise expansion and let the DAE≈CAE equivalence land. Then state the unifying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with the plain AE, all fixed by going probabilistic. The ELBO is a bound and the gap is a KL — say that, it demystifies why we maximize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lines slowly: the first is an exact identity; the second names the ELBO and the non-negative gap. The punchline — maximizing the bound trains the encoder toward the true posterior — is what makes variational inference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VAE as a controlled tug-of-war. Flag posterior collapse as the failure every practitioner hits, and end on the sample-able latent — the bridge to the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few examples, each done properly. Watch the manifold idea do real scientific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PCA-vs-nonlinear plus the sample-able latent, paying rent on real data. The redshift trick is the clever, domain-specific part worth dwelling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Dwell on the redshift-in-the-decoder trick — that is the architectural insight that makes spender more than a generic AE on spectra.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as the discovery problem: you cannot train a classifier for things you have not seen. This is the astrophysics twin of the LHC anomaly search two slides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pedagogical gold here is the failure: symmetry by construction is not symmetry in practice. Connects to the broader equivariance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astro angle: AEs as generative priors for inverse problems, not just compressors. Tie it back to why we built a sample-able latent in Part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Part I: this is the sample-able latent doing inference. The shear-bias number is what cosmologists actually care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with the astro anomaly slide: identical idea — off-manifold = interesting — under a brutal latency budget. The decoder's failure is the physics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the 80 ns and ~1000× together — that pairing (real-time AND a big signal boost) is the whole point. Mirror it against the astrophysics anomaly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ladder and the single sentence that unifies the science half. The four ideas from Part I are exactly what Parts II spends.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733"/>
        </a:solidFill>
      </p:bgPr>
    </p:bg>
    <p:spTree>
      <p:nvGrpSpPr>
        <p:cNvPr id="1" name=""/>
        <p:cNvGrpSpPr/>
        <p:nvPr/>
      </p:nvGrpSpPr>
      <p:grpSpPr>
        <a:xfrm>
          <a:off x="0" y="0"/>
          <a:ext cx="0" cy="0"/>
          <a:chOff x="0" y="0"/>
          <a:chExt cx="0" cy="0"/>
        </a:xfrm>
      </p:grpSpPr>
      <p:sp>
        <p:nvSpPr>
          <p:cNvPr id="2" name="Shape 0"/>
          <p:cNvSpPr/>
          <p:nvPr/>
        </p:nvSpPr>
        <p:spPr>
          <a:xfrm>
            <a:off x="7955280" y="914400"/>
            <a:ext cx="3840480" cy="3840480"/>
          </a:xfrm>
          <a:prstGeom prst="ellipse">
            <a:avLst/>
          </a:prstGeom>
          <a:solidFill>
            <a:srgbClr val="16323F"/>
          </a:solidFill>
          <a:ln w="12700">
            <a:solidFill>
              <a:srgbClr val="27485A"/>
            </a:solidFill>
            <a:prstDash val="solid"/>
          </a:ln>
        </p:spPr>
      </p:sp>
      <p:sp>
        <p:nvSpPr>
          <p:cNvPr id="3" name="Shape 1"/>
          <p:cNvSpPr/>
          <p:nvPr/>
        </p:nvSpPr>
        <p:spPr>
          <a:xfrm>
            <a:off x="8412480" y="4023360"/>
            <a:ext cx="109728" cy="109728"/>
          </a:xfrm>
          <a:prstGeom prst="ellipse">
            <a:avLst/>
          </a:prstGeom>
          <a:solidFill>
            <a:srgbClr val="1C7293"/>
          </a:solidFill>
          <a:ln/>
        </p:spPr>
      </p:sp>
      <p:sp>
        <p:nvSpPr>
          <p:cNvPr id="4" name="Shape 2"/>
          <p:cNvSpPr/>
          <p:nvPr/>
        </p:nvSpPr>
        <p:spPr>
          <a:xfrm>
            <a:off x="8961120" y="3108960"/>
            <a:ext cx="109728" cy="109728"/>
          </a:xfrm>
          <a:prstGeom prst="ellipse">
            <a:avLst/>
          </a:prstGeom>
          <a:solidFill>
            <a:srgbClr val="1C7293"/>
          </a:solidFill>
          <a:ln/>
        </p:spPr>
      </p:sp>
      <p:sp>
        <p:nvSpPr>
          <p:cNvPr id="5" name="Shape 3"/>
          <p:cNvSpPr/>
          <p:nvPr/>
        </p:nvSpPr>
        <p:spPr>
          <a:xfrm>
            <a:off x="9692640" y="3657600"/>
            <a:ext cx="109728" cy="109728"/>
          </a:xfrm>
          <a:prstGeom prst="ellipse">
            <a:avLst/>
          </a:prstGeom>
          <a:solidFill>
            <a:srgbClr val="B85042"/>
          </a:solidFill>
          <a:ln/>
        </p:spPr>
      </p:sp>
      <p:sp>
        <p:nvSpPr>
          <p:cNvPr id="6" name="Shape 4"/>
          <p:cNvSpPr/>
          <p:nvPr/>
        </p:nvSpPr>
        <p:spPr>
          <a:xfrm>
            <a:off x="10424160" y="2651760"/>
            <a:ext cx="109728" cy="109728"/>
          </a:xfrm>
          <a:prstGeom prst="ellipse">
            <a:avLst/>
          </a:prstGeom>
          <a:solidFill>
            <a:srgbClr val="1C7293"/>
          </a:solidFill>
          <a:ln/>
        </p:spPr>
      </p:sp>
      <p:sp>
        <p:nvSpPr>
          <p:cNvPr id="7" name="Shape 5"/>
          <p:cNvSpPr/>
          <p:nvPr/>
        </p:nvSpPr>
        <p:spPr>
          <a:xfrm>
            <a:off x="11064240" y="3291840"/>
            <a:ext cx="109728" cy="109728"/>
          </a:xfrm>
          <a:prstGeom prst="ellipse">
            <a:avLst/>
          </a:prstGeom>
          <a:solidFill>
            <a:srgbClr val="1C7293"/>
          </a:solidFill>
          <a:ln/>
        </p:spPr>
      </p:sp>
      <p:sp>
        <p:nvSpPr>
          <p:cNvPr id="8" name="Text 6"/>
          <p:cNvSpPr/>
          <p:nvPr/>
        </p:nvSpPr>
        <p:spPr>
          <a:xfrm>
            <a:off x="566928" y="1554480"/>
            <a:ext cx="7315200" cy="365760"/>
          </a:xfrm>
          <a:prstGeom prst="rect">
            <a:avLst/>
          </a:prstGeom>
          <a:noFill/>
          <a:ln/>
        </p:spPr>
        <p:txBody>
          <a:bodyPr wrap="square" lIns="0" tIns="0" rIns="0" bIns="0" rtlCol="0" anchor="ctr"/>
          <a:lstStyle/>
          <a:p>
            <a:pPr indent="0" marL="0">
              <a:buNone/>
            </a:pPr>
            <a:r>
              <a:rPr lang="en-US" sz="1300" b="1" spc="300" kern="0" dirty="0">
                <a:solidFill>
                  <a:srgbClr val="B85042"/>
                </a:solidFill>
                <a:latin typeface="Calibri" pitchFamily="34" charset="0"/>
                <a:ea typeface="Calibri" pitchFamily="34" charset="-122"/>
                <a:cs typeface="Calibri" pitchFamily="34" charset="-120"/>
              </a:rPr>
              <a:t>A VISUAL LECTURE</a:t>
            </a:r>
            <a:endParaRPr lang="en-US" sz="1300" dirty="0"/>
          </a:p>
        </p:txBody>
      </p:sp>
      <p:sp>
        <p:nvSpPr>
          <p:cNvPr id="9" name="Text 7"/>
          <p:cNvSpPr/>
          <p:nvPr/>
        </p:nvSpPr>
        <p:spPr>
          <a:xfrm>
            <a:off x="539496" y="1965960"/>
            <a:ext cx="8229600" cy="137160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Autoencoders</a:t>
            </a:r>
            <a:endParaRPr lang="en-US" sz="6600" dirty="0"/>
          </a:p>
        </p:txBody>
      </p:sp>
      <p:sp>
        <p:nvSpPr>
          <p:cNvPr id="10" name="Text 8"/>
          <p:cNvSpPr/>
          <p:nvPr/>
        </p:nvSpPr>
        <p:spPr>
          <a:xfrm>
            <a:off x="566928" y="3246120"/>
            <a:ext cx="8046720" cy="548640"/>
          </a:xfrm>
          <a:prstGeom prst="rect">
            <a:avLst/>
          </a:prstGeom>
          <a:noFill/>
          <a:ln/>
        </p:spPr>
        <p:txBody>
          <a:bodyPr wrap="square" lIns="0" tIns="0" rIns="0" bIns="0" rtlCol="0" anchor="ctr"/>
          <a:lstStyle/>
          <a:p>
            <a:pPr indent="0" marL="0">
              <a:buNone/>
            </a:pPr>
            <a:r>
              <a:rPr lang="en-US" sz="2200" i="1" dirty="0">
                <a:solidFill>
                  <a:srgbClr val="C8D8DE"/>
                </a:solidFill>
                <a:latin typeface="Cambria" pitchFamily="34" charset="0"/>
                <a:ea typeface="Cambria" pitchFamily="34" charset="-122"/>
                <a:cs typeface="Cambria" pitchFamily="34" charset="-120"/>
              </a:rPr>
              <a:t>From PCA to the variational autoencoder</a:t>
            </a:r>
            <a:endParaRPr lang="en-US" sz="2200" dirty="0"/>
          </a:p>
        </p:txBody>
      </p:sp>
      <p:sp>
        <p:nvSpPr>
          <p:cNvPr id="11" name="Text 9"/>
          <p:cNvSpPr/>
          <p:nvPr/>
        </p:nvSpPr>
        <p:spPr>
          <a:xfrm>
            <a:off x="566928" y="4892040"/>
            <a:ext cx="10515600" cy="457200"/>
          </a:xfrm>
          <a:prstGeom prst="rect">
            <a:avLst/>
          </a:prstGeom>
          <a:noFill/>
          <a:ln/>
        </p:spPr>
        <p:txBody>
          <a:bodyPr wrap="square" lIns="0" tIns="0" rIns="0" bIns="0"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the models</a:t>
            </a:r>
            <a:pPr indent="0" marL="0">
              <a:buNone/>
            </a:pPr>
            <a:r>
              <a:rPr lang="en-US" sz="1600" dirty="0">
                <a:solidFill>
                  <a:srgbClr val="5A6E78"/>
                </a:solidFill>
                <a:latin typeface="Calibri" pitchFamily="34" charset="0"/>
                <a:ea typeface="Calibri" pitchFamily="34" charset="-122"/>
                <a:cs typeface="Calibri" pitchFamily="34" charset="-120"/>
              </a:rPr>
              <a:t>   then   </a:t>
            </a:r>
            <a:pPr indent="0" marL="0">
              <a:buNone/>
            </a:pPr>
            <a:r>
              <a:rPr lang="en-US" sz="1600" b="1" dirty="0">
                <a:solidFill>
                  <a:srgbClr val="6FB0A6"/>
                </a:solidFill>
                <a:latin typeface="Calibri" pitchFamily="34" charset="0"/>
                <a:ea typeface="Calibri" pitchFamily="34" charset="-122"/>
                <a:cs typeface="Calibri" pitchFamily="34" charset="-120"/>
              </a:rPr>
              <a:t>astrophysics</a:t>
            </a:r>
            <a:pPr indent="0" marL="0">
              <a:buNone/>
            </a:pPr>
            <a:r>
              <a:rPr lang="en-US" sz="1600" dirty="0">
                <a:solidFill>
                  <a:srgbClr val="5A6E78"/>
                </a:solidFill>
                <a:latin typeface="Calibri" pitchFamily="34" charset="0"/>
                <a:ea typeface="Calibri" pitchFamily="34" charset="-122"/>
                <a:cs typeface="Calibri" pitchFamily="34" charset="-120"/>
              </a:rPr>
              <a:t>  &amp;  </a:t>
            </a:r>
            <a:pPr indent="0" marL="0">
              <a:buNone/>
            </a:pPr>
            <a:r>
              <a:rPr lang="en-US" sz="1600" b="1" dirty="0">
                <a:solidFill>
                  <a:srgbClr val="B85042"/>
                </a:solidFill>
                <a:latin typeface="Calibri" pitchFamily="34" charset="0"/>
                <a:ea typeface="Calibri" pitchFamily="34" charset="-122"/>
                <a:cs typeface="Calibri" pitchFamily="34" charset="-120"/>
              </a:rPr>
              <a:t>particle physics</a:t>
            </a:r>
            <a:endParaRPr lang="en-US" sz="1600" dirty="0"/>
          </a:p>
        </p:txBody>
      </p:sp>
      <p:sp>
        <p:nvSpPr>
          <p:cNvPr id="12" name="Text 10"/>
          <p:cNvSpPr/>
          <p:nvPr/>
        </p:nvSpPr>
        <p:spPr>
          <a:xfrm>
            <a:off x="566928" y="5349240"/>
            <a:ext cx="8686800" cy="365760"/>
          </a:xfrm>
          <a:prstGeom prst="rect">
            <a:avLst/>
          </a:prstGeom>
          <a:noFill/>
          <a:ln/>
        </p:spPr>
        <p:txBody>
          <a:bodyPr wrap="square" lIns="0" tIns="0" rIns="0" bIns="0" rtlCol="0" anchor="ctr"/>
          <a:lstStyle/>
          <a:p>
            <a:pPr indent="0" marL="0">
              <a:buNone/>
            </a:pPr>
            <a:r>
              <a:rPr lang="en-US" sz="1300" i="1" dirty="0">
                <a:solidFill>
                  <a:srgbClr val="8FA3AC"/>
                </a:solidFill>
                <a:latin typeface="Calibri" pitchFamily="34" charset="0"/>
                <a:ea typeface="Calibri" pitchFamily="34" charset="-122"/>
                <a:cs typeface="Calibri" pitchFamily="34" charset="-120"/>
              </a:rPr>
              <a:t>One geometric idea — data lives on a low-dimensional manifold — built up, then put to work.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B85042"/>
                </a:solidFill>
                <a:latin typeface="Calibri" pitchFamily="34" charset="0"/>
                <a:ea typeface="Calibri" pitchFamily="34" charset="-122"/>
                <a:cs typeface="Calibri" pitchFamily="34" charset="-120"/>
              </a:rPr>
              <a:t>ROADMAP</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Two halves: the models, then the science</a:t>
            </a:r>
            <a:endParaRPr lang="en-US" sz="2900" dirty="0"/>
          </a:p>
        </p:txBody>
      </p:sp>
      <p:sp>
        <p:nvSpPr>
          <p:cNvPr id="4" name="Text 2"/>
          <p:cNvSpPr/>
          <p:nvPr/>
        </p:nvSpPr>
        <p:spPr>
          <a:xfrm>
            <a:off x="566928" y="1673352"/>
            <a:ext cx="5669280" cy="274320"/>
          </a:xfrm>
          <a:prstGeom prst="rect">
            <a:avLst/>
          </a:prstGeom>
          <a:noFill/>
          <a:ln/>
        </p:spPr>
        <p:txBody>
          <a:bodyPr wrap="square" lIns="0" tIns="0" rIns="0" bIns="0" rtlCol="0" anchor="ctr"/>
          <a:lstStyle/>
          <a:p>
            <a:pPr indent="0" marL="0">
              <a:buNone/>
            </a:pPr>
            <a:r>
              <a:rPr lang="en-US" sz="1250" b="1" spc="200" kern="0" dirty="0">
                <a:solidFill>
                  <a:srgbClr val="065A82"/>
                </a:solidFill>
                <a:latin typeface="Calibri" pitchFamily="34" charset="0"/>
                <a:ea typeface="Calibri" pitchFamily="34" charset="-122"/>
                <a:cs typeface="Calibri" pitchFamily="34" charset="-120"/>
              </a:rPr>
              <a:t>THE MODELS</a:t>
            </a:r>
            <a:endParaRPr lang="en-US" sz="1250" dirty="0"/>
          </a:p>
        </p:txBody>
      </p:sp>
      <p:sp>
        <p:nvSpPr>
          <p:cNvPr id="5" name="Shape 3"/>
          <p:cNvSpPr/>
          <p:nvPr/>
        </p:nvSpPr>
        <p:spPr>
          <a:xfrm>
            <a:off x="566928" y="2039112"/>
            <a:ext cx="457200" cy="457200"/>
          </a:xfrm>
          <a:prstGeom prst="ellipse">
            <a:avLst/>
          </a:prstGeom>
          <a:solidFill>
            <a:srgbClr val="065A82"/>
          </a:solidFill>
          <a:ln/>
        </p:spPr>
      </p:sp>
      <p:sp>
        <p:nvSpPr>
          <p:cNvPr id="6" name="Text 4"/>
          <p:cNvSpPr/>
          <p:nvPr/>
        </p:nvSpPr>
        <p:spPr>
          <a:xfrm>
            <a:off x="566928" y="20391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Shape 5"/>
          <p:cNvSpPr/>
          <p:nvPr/>
        </p:nvSpPr>
        <p:spPr>
          <a:xfrm>
            <a:off x="795528" y="2496312"/>
            <a:ext cx="0" cy="310896"/>
          </a:xfrm>
          <a:prstGeom prst="line">
            <a:avLst/>
          </a:prstGeom>
          <a:noFill/>
          <a:ln w="19050">
            <a:solidFill>
              <a:srgbClr val="D9D2C6"/>
            </a:solidFill>
            <a:prstDash val="solid"/>
          </a:ln>
        </p:spPr>
      </p:sp>
      <p:sp>
        <p:nvSpPr>
          <p:cNvPr id="8" name="Text 6"/>
          <p:cNvSpPr/>
          <p:nvPr/>
        </p:nvSpPr>
        <p:spPr>
          <a:xfrm>
            <a:off x="1207008" y="2075688"/>
            <a:ext cx="5029200" cy="4572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Motivation   </a:t>
            </a:r>
            <a:pPr indent="0" marL="0">
              <a:buNone/>
            </a:pPr>
            <a:r>
              <a:rPr lang="en-US" sz="1400" i="1" dirty="0">
                <a:solidFill>
                  <a:srgbClr val="6E6358"/>
                </a:solidFill>
                <a:latin typeface="Calibri" pitchFamily="34" charset="0"/>
                <a:ea typeface="Calibri" pitchFamily="34" charset="-122"/>
                <a:cs typeface="Calibri" pitchFamily="34" charset="-120"/>
              </a:rPr>
              <a:t>data on a low-D manifold</a:t>
            </a:r>
            <a:endParaRPr lang="en-US" sz="1400" dirty="0"/>
          </a:p>
        </p:txBody>
      </p:sp>
      <p:sp>
        <p:nvSpPr>
          <p:cNvPr id="9" name="Shape 7"/>
          <p:cNvSpPr/>
          <p:nvPr/>
        </p:nvSpPr>
        <p:spPr>
          <a:xfrm>
            <a:off x="566928" y="2807208"/>
            <a:ext cx="457200" cy="457200"/>
          </a:xfrm>
          <a:prstGeom prst="ellipse">
            <a:avLst/>
          </a:prstGeom>
          <a:solidFill>
            <a:srgbClr val="065A82"/>
          </a:solidFill>
          <a:ln/>
        </p:spPr>
      </p:sp>
      <p:sp>
        <p:nvSpPr>
          <p:cNvPr id="10" name="Text 8"/>
          <p:cNvSpPr/>
          <p:nvPr/>
        </p:nvSpPr>
        <p:spPr>
          <a:xfrm>
            <a:off x="566928" y="28072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Shape 9"/>
          <p:cNvSpPr/>
          <p:nvPr/>
        </p:nvSpPr>
        <p:spPr>
          <a:xfrm>
            <a:off x="795528" y="3264408"/>
            <a:ext cx="0" cy="310896"/>
          </a:xfrm>
          <a:prstGeom prst="line">
            <a:avLst/>
          </a:prstGeom>
          <a:noFill/>
          <a:ln w="19050">
            <a:solidFill>
              <a:srgbClr val="D9D2C6"/>
            </a:solidFill>
            <a:prstDash val="solid"/>
          </a:ln>
        </p:spPr>
      </p:sp>
      <p:sp>
        <p:nvSpPr>
          <p:cNvPr id="12" name="Text 10"/>
          <p:cNvSpPr/>
          <p:nvPr/>
        </p:nvSpPr>
        <p:spPr>
          <a:xfrm>
            <a:off x="1207008" y="2843784"/>
            <a:ext cx="5029200" cy="4572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Linear AE = PCA   </a:t>
            </a:r>
            <a:pPr indent="0" marL="0">
              <a:buNone/>
            </a:pPr>
            <a:r>
              <a:rPr lang="en-US" sz="1400" i="1" dirty="0">
                <a:solidFill>
                  <a:srgbClr val="6E6358"/>
                </a:solidFill>
                <a:latin typeface="Calibri" pitchFamily="34" charset="0"/>
                <a:ea typeface="Calibri" pitchFamily="34" charset="-122"/>
                <a:cs typeface="Calibri" pitchFamily="34" charset="-120"/>
              </a:rPr>
              <a:t>the exactly-solved case</a:t>
            </a:r>
            <a:endParaRPr lang="en-US" sz="1400" dirty="0"/>
          </a:p>
        </p:txBody>
      </p:sp>
      <p:sp>
        <p:nvSpPr>
          <p:cNvPr id="13" name="Shape 11"/>
          <p:cNvSpPr/>
          <p:nvPr/>
        </p:nvSpPr>
        <p:spPr>
          <a:xfrm>
            <a:off x="566928" y="3575304"/>
            <a:ext cx="457200" cy="457200"/>
          </a:xfrm>
          <a:prstGeom prst="ellipse">
            <a:avLst/>
          </a:prstGeom>
          <a:solidFill>
            <a:srgbClr val="065A82"/>
          </a:solidFill>
          <a:ln/>
        </p:spPr>
      </p:sp>
      <p:sp>
        <p:nvSpPr>
          <p:cNvPr id="14" name="Text 12"/>
          <p:cNvSpPr/>
          <p:nvPr/>
        </p:nvSpPr>
        <p:spPr>
          <a:xfrm>
            <a:off x="566928" y="35753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Shape 13"/>
          <p:cNvSpPr/>
          <p:nvPr/>
        </p:nvSpPr>
        <p:spPr>
          <a:xfrm>
            <a:off x="795528" y="4032504"/>
            <a:ext cx="0" cy="310896"/>
          </a:xfrm>
          <a:prstGeom prst="line">
            <a:avLst/>
          </a:prstGeom>
          <a:noFill/>
          <a:ln w="19050">
            <a:solidFill>
              <a:srgbClr val="D9D2C6"/>
            </a:solidFill>
            <a:prstDash val="solid"/>
          </a:ln>
        </p:spPr>
      </p:sp>
      <p:sp>
        <p:nvSpPr>
          <p:cNvPr id="16" name="Text 14"/>
          <p:cNvSpPr/>
          <p:nvPr/>
        </p:nvSpPr>
        <p:spPr>
          <a:xfrm>
            <a:off x="1207008" y="3611880"/>
            <a:ext cx="5029200" cy="4572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Swiss roll → the hourglass   </a:t>
            </a:r>
            <a:pPr indent="0" marL="0">
              <a:buNone/>
            </a:pPr>
            <a:r>
              <a:rPr lang="en-US" sz="1400" i="1" dirty="0">
                <a:solidFill>
                  <a:srgbClr val="6E6358"/>
                </a:solidFill>
                <a:latin typeface="Calibri" pitchFamily="34" charset="0"/>
                <a:ea typeface="Calibri" pitchFamily="34" charset="-122"/>
                <a:cs typeface="Calibri" pitchFamily="34" charset="-120"/>
              </a:rPr>
              <a:t>why we go nonlinear</a:t>
            </a:r>
            <a:endParaRPr lang="en-US" sz="1400" dirty="0"/>
          </a:p>
        </p:txBody>
      </p:sp>
      <p:sp>
        <p:nvSpPr>
          <p:cNvPr id="17" name="Shape 15"/>
          <p:cNvSpPr/>
          <p:nvPr/>
        </p:nvSpPr>
        <p:spPr>
          <a:xfrm>
            <a:off x="566928" y="4343400"/>
            <a:ext cx="457200" cy="457200"/>
          </a:xfrm>
          <a:prstGeom prst="ellipse">
            <a:avLst/>
          </a:prstGeom>
          <a:solidFill>
            <a:srgbClr val="065A82"/>
          </a:solidFill>
          <a:ln/>
        </p:spPr>
      </p:sp>
      <p:sp>
        <p:nvSpPr>
          <p:cNvPr id="18" name="Text 16"/>
          <p:cNvSpPr/>
          <p:nvPr/>
        </p:nvSpPr>
        <p:spPr>
          <a:xfrm>
            <a:off x="566928" y="43434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Shape 17"/>
          <p:cNvSpPr/>
          <p:nvPr/>
        </p:nvSpPr>
        <p:spPr>
          <a:xfrm>
            <a:off x="795528" y="4800600"/>
            <a:ext cx="0" cy="310896"/>
          </a:xfrm>
          <a:prstGeom prst="line">
            <a:avLst/>
          </a:prstGeom>
          <a:noFill/>
          <a:ln w="19050">
            <a:solidFill>
              <a:srgbClr val="D9D2C6"/>
            </a:solidFill>
            <a:prstDash val="solid"/>
          </a:ln>
        </p:spPr>
      </p:sp>
      <p:sp>
        <p:nvSpPr>
          <p:cNvPr id="20" name="Text 18"/>
          <p:cNvSpPr/>
          <p:nvPr/>
        </p:nvSpPr>
        <p:spPr>
          <a:xfrm>
            <a:off x="1207008" y="4379976"/>
            <a:ext cx="5029200" cy="4572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Sparse · Denoising · Contractive   </a:t>
            </a:r>
            <a:pPr indent="0" marL="0">
              <a:buNone/>
            </a:pPr>
            <a:r>
              <a:rPr lang="en-US" sz="1400" i="1" dirty="0">
                <a:solidFill>
                  <a:srgbClr val="6E6358"/>
                </a:solidFill>
                <a:latin typeface="Calibri" pitchFamily="34" charset="0"/>
                <a:ea typeface="Calibri" pitchFamily="34" charset="-122"/>
                <a:cs typeface="Calibri" pitchFamily="34" charset="-120"/>
              </a:rPr>
              <a:t>three knobs, one geometric goal</a:t>
            </a:r>
            <a:endParaRPr lang="en-US" sz="1400" dirty="0"/>
          </a:p>
        </p:txBody>
      </p:sp>
      <p:sp>
        <p:nvSpPr>
          <p:cNvPr id="21" name="Shape 19"/>
          <p:cNvSpPr/>
          <p:nvPr/>
        </p:nvSpPr>
        <p:spPr>
          <a:xfrm>
            <a:off x="566928" y="5111496"/>
            <a:ext cx="457200" cy="457200"/>
          </a:xfrm>
          <a:prstGeom prst="ellipse">
            <a:avLst/>
          </a:prstGeom>
          <a:solidFill>
            <a:srgbClr val="065A82"/>
          </a:solidFill>
          <a:ln/>
        </p:spPr>
      </p:sp>
      <p:sp>
        <p:nvSpPr>
          <p:cNvPr id="22" name="Text 20"/>
          <p:cNvSpPr/>
          <p:nvPr/>
        </p:nvSpPr>
        <p:spPr>
          <a:xfrm>
            <a:off x="566928" y="51114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207008" y="5148072"/>
            <a:ext cx="5029200" cy="4572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Variational autoencoder   </a:t>
            </a:r>
            <a:pPr indent="0" marL="0">
              <a:buNone/>
            </a:pPr>
            <a:r>
              <a:rPr lang="en-US" sz="1400" i="1" dirty="0">
                <a:solidFill>
                  <a:srgbClr val="6E6358"/>
                </a:solidFill>
                <a:latin typeface="Calibri" pitchFamily="34" charset="0"/>
                <a:ea typeface="Calibri" pitchFamily="34" charset="-122"/>
                <a:cs typeface="Calibri" pitchFamily="34" charset="-120"/>
              </a:rPr>
              <a:t>a smooth, sample-able latent</a:t>
            </a:r>
            <a:endParaRPr lang="en-US" sz="1400" dirty="0"/>
          </a:p>
        </p:txBody>
      </p:sp>
      <p:sp>
        <p:nvSpPr>
          <p:cNvPr id="24" name="Text 22"/>
          <p:cNvSpPr/>
          <p:nvPr/>
        </p:nvSpPr>
        <p:spPr>
          <a:xfrm>
            <a:off x="6766560" y="1673352"/>
            <a:ext cx="4846320" cy="274320"/>
          </a:xfrm>
          <a:prstGeom prst="rect">
            <a:avLst/>
          </a:prstGeom>
          <a:noFill/>
          <a:ln/>
        </p:spPr>
        <p:txBody>
          <a:bodyPr wrap="square" lIns="0" tIns="0" rIns="0" bIns="0" rtlCol="0" anchor="ctr"/>
          <a:lstStyle/>
          <a:p>
            <a:pPr indent="0" marL="0">
              <a:buNone/>
            </a:pPr>
            <a:r>
              <a:rPr lang="en-US" sz="1250" b="1" spc="100" kern="0" dirty="0">
                <a:solidFill>
                  <a:srgbClr val="1C5D63"/>
                </a:solidFill>
                <a:latin typeface="Calibri" pitchFamily="34" charset="0"/>
                <a:ea typeface="Calibri" pitchFamily="34" charset="-122"/>
                <a:cs typeface="Calibri" pitchFamily="34" charset="-120"/>
              </a:rPr>
              <a:t>IN THE SCIENCES — FEW EXAMPLES, GONE DEEP</a:t>
            </a:r>
            <a:endParaRPr lang="en-US" sz="1250" dirty="0"/>
          </a:p>
        </p:txBody>
      </p:sp>
      <p:sp>
        <p:nvSpPr>
          <p:cNvPr id="25" name="Shape 23"/>
          <p:cNvSpPr/>
          <p:nvPr/>
        </p:nvSpPr>
        <p:spPr>
          <a:xfrm>
            <a:off x="6766560" y="2084832"/>
            <a:ext cx="4846320" cy="1783080"/>
          </a:xfrm>
          <a:prstGeom prst="roundRect">
            <a:avLst>
              <a:gd name="adj" fmla="val 3590"/>
            </a:avLst>
          </a:prstGeom>
          <a:solidFill>
            <a:srgbClr val="FAFAF8"/>
          </a:solidFill>
          <a:ln w="12700">
            <a:solidFill>
              <a:srgbClr val="E6E2DB"/>
            </a:solidFill>
            <a:prstDash val="solid"/>
          </a:ln>
          <a:effectLst>
            <a:outerShdw sx="100000" sy="100000" kx="0" ky="0" algn="bl" rotWithShape="0" blurRad="88900" dist="38100" dir="5400000">
              <a:srgbClr val="000000">
                <a:alpha val="9000"/>
              </a:srgbClr>
            </a:outerShdw>
          </a:effectLst>
        </p:spPr>
      </p:sp>
      <p:sp>
        <p:nvSpPr>
          <p:cNvPr id="26" name="Shape 24"/>
          <p:cNvSpPr/>
          <p:nvPr/>
        </p:nvSpPr>
        <p:spPr>
          <a:xfrm>
            <a:off x="6967728" y="2286000"/>
            <a:ext cx="146304" cy="146304"/>
          </a:xfrm>
          <a:prstGeom prst="ellipse">
            <a:avLst/>
          </a:prstGeom>
          <a:solidFill>
            <a:srgbClr val="1C5D63"/>
          </a:solidFill>
          <a:ln/>
        </p:spPr>
      </p:sp>
      <p:sp>
        <p:nvSpPr>
          <p:cNvPr id="27" name="Text 25"/>
          <p:cNvSpPr/>
          <p:nvPr/>
        </p:nvSpPr>
        <p:spPr>
          <a:xfrm>
            <a:off x="7205472" y="2194560"/>
            <a:ext cx="4206240" cy="320040"/>
          </a:xfrm>
          <a:prstGeom prst="rect">
            <a:avLst/>
          </a:prstGeom>
          <a:noFill/>
          <a:ln/>
        </p:spPr>
        <p:txBody>
          <a:bodyPr wrap="square" lIns="0" tIns="0" rIns="0" bIns="0" rtlCol="0" anchor="ctr"/>
          <a:lstStyle/>
          <a:p>
            <a:pPr indent="0" marL="0">
              <a:buNone/>
            </a:pPr>
            <a:r>
              <a:rPr lang="en-US" sz="1600" b="1" dirty="0">
                <a:solidFill>
                  <a:srgbClr val="1C5D63"/>
                </a:solidFill>
                <a:latin typeface="Cambria" pitchFamily="34" charset="0"/>
                <a:ea typeface="Cambria" pitchFamily="34" charset="-122"/>
                <a:cs typeface="Cambria" pitchFamily="34" charset="-120"/>
              </a:rPr>
              <a:t>Astrophysics</a:t>
            </a:r>
            <a:endParaRPr lang="en-US" sz="1600" dirty="0"/>
          </a:p>
        </p:txBody>
      </p:sp>
      <p:sp>
        <p:nvSpPr>
          <p:cNvPr id="28" name="Text 26"/>
          <p:cNvSpPr/>
          <p:nvPr/>
        </p:nvSpPr>
        <p:spPr>
          <a:xfrm>
            <a:off x="7205472" y="2560320"/>
            <a:ext cx="4206240" cy="1216152"/>
          </a:xfrm>
          <a:prstGeom prst="rect">
            <a:avLst/>
          </a:prstGeom>
          <a:noFill/>
          <a:ln/>
        </p:spPr>
        <p:txBody>
          <a:bodyPr wrap="square" lIns="0" tIns="0" rIns="0" bIns="0" rtlCol="0" anchor="t"/>
          <a:lstStyle/>
          <a:p>
            <a:pPr indent="0" marL="0">
              <a:lnSpc>
                <a:spcPct val="118000"/>
              </a:lnSpc>
              <a:buNone/>
            </a:pPr>
            <a:r>
              <a:rPr lang="en-US" sz="1250" dirty="0">
                <a:solidFill>
                  <a:srgbClr val="44423E"/>
                </a:solidFill>
                <a:latin typeface="Calibri" pitchFamily="34" charset="0"/>
                <a:ea typeface="Calibri" pitchFamily="34" charset="-122"/>
                <a:cs typeface="Calibri" pitchFamily="34" charset="-120"/>
              </a:rPr>
              <a:t>① compressing galaxy spectra   ② anomaly &amp; discovery in surveys   ③ deblending overlapping galaxies</a:t>
            </a:r>
            <a:endParaRPr lang="en-US" sz="1250" dirty="0"/>
          </a:p>
        </p:txBody>
      </p:sp>
      <p:sp>
        <p:nvSpPr>
          <p:cNvPr id="29" name="Shape 27"/>
          <p:cNvSpPr/>
          <p:nvPr/>
        </p:nvSpPr>
        <p:spPr>
          <a:xfrm>
            <a:off x="6766560" y="4069080"/>
            <a:ext cx="4846320" cy="1143000"/>
          </a:xfrm>
          <a:prstGeom prst="roundRect">
            <a:avLst>
              <a:gd name="adj" fmla="val 5600"/>
            </a:avLst>
          </a:prstGeom>
          <a:solidFill>
            <a:srgbClr val="FAFAF8"/>
          </a:solidFill>
          <a:ln w="12700">
            <a:solidFill>
              <a:srgbClr val="E6E2DB"/>
            </a:solidFill>
            <a:prstDash val="solid"/>
          </a:ln>
          <a:effectLst>
            <a:outerShdw sx="100000" sy="100000" kx="0" ky="0" algn="bl" rotWithShape="0" blurRad="88900" dist="38100" dir="5400000">
              <a:srgbClr val="000000">
                <a:alpha val="9000"/>
              </a:srgbClr>
            </a:outerShdw>
          </a:effectLst>
        </p:spPr>
      </p:sp>
      <p:sp>
        <p:nvSpPr>
          <p:cNvPr id="30" name="Shape 28"/>
          <p:cNvSpPr/>
          <p:nvPr/>
        </p:nvSpPr>
        <p:spPr>
          <a:xfrm>
            <a:off x="6967728" y="4270248"/>
            <a:ext cx="146304" cy="146304"/>
          </a:xfrm>
          <a:prstGeom prst="ellipse">
            <a:avLst/>
          </a:prstGeom>
          <a:solidFill>
            <a:srgbClr val="065A82"/>
          </a:solidFill>
          <a:ln/>
        </p:spPr>
      </p:sp>
      <p:sp>
        <p:nvSpPr>
          <p:cNvPr id="31" name="Text 29"/>
          <p:cNvSpPr/>
          <p:nvPr/>
        </p:nvSpPr>
        <p:spPr>
          <a:xfrm>
            <a:off x="7205472" y="4178808"/>
            <a:ext cx="4206240" cy="320040"/>
          </a:xfrm>
          <a:prstGeom prst="rect">
            <a:avLst/>
          </a:prstGeom>
          <a:noFill/>
          <a:ln/>
        </p:spPr>
        <p:txBody>
          <a:bodyPr wrap="square" lIns="0" tIns="0" rIns="0" bIns="0" rtlCol="0" anchor="ctr"/>
          <a:lstStyle/>
          <a:p>
            <a:pPr indent="0" marL="0">
              <a:buNone/>
            </a:pPr>
            <a:r>
              <a:rPr lang="en-US" sz="1600" b="1" dirty="0">
                <a:solidFill>
                  <a:srgbClr val="065A82"/>
                </a:solidFill>
                <a:latin typeface="Cambria" pitchFamily="34" charset="0"/>
                <a:ea typeface="Cambria" pitchFamily="34" charset="-122"/>
                <a:cs typeface="Cambria" pitchFamily="34" charset="-120"/>
              </a:rPr>
              <a:t>Particle physics</a:t>
            </a:r>
            <a:endParaRPr lang="en-US" sz="1600" dirty="0"/>
          </a:p>
        </p:txBody>
      </p:sp>
      <p:sp>
        <p:nvSpPr>
          <p:cNvPr id="32" name="Text 30"/>
          <p:cNvSpPr/>
          <p:nvPr/>
        </p:nvSpPr>
        <p:spPr>
          <a:xfrm>
            <a:off x="7205472" y="4544568"/>
            <a:ext cx="4206240" cy="576072"/>
          </a:xfrm>
          <a:prstGeom prst="rect">
            <a:avLst/>
          </a:prstGeom>
          <a:noFill/>
          <a:ln/>
        </p:spPr>
        <p:txBody>
          <a:bodyPr wrap="square" lIns="0" tIns="0" rIns="0" bIns="0" rtlCol="0" anchor="t"/>
          <a:lstStyle/>
          <a:p>
            <a:pPr indent="0" marL="0">
              <a:lnSpc>
                <a:spcPct val="118000"/>
              </a:lnSpc>
              <a:buNone/>
            </a:pPr>
            <a:r>
              <a:rPr lang="en-US" sz="1250" dirty="0">
                <a:solidFill>
                  <a:srgbClr val="44423E"/>
                </a:solidFill>
                <a:latin typeface="Calibri" pitchFamily="34" charset="0"/>
                <a:ea typeface="Calibri" pitchFamily="34" charset="-122"/>
                <a:cs typeface="Calibri" pitchFamily="34" charset="-120"/>
              </a:rPr>
              <a:t>④ model-agnostic new-physics search in the LHC trigger</a:t>
            </a:r>
            <a:endParaRPr lang="en-US" sz="1250" dirty="0"/>
          </a:p>
        </p:txBody>
      </p:sp>
      <p:sp>
        <p:nvSpPr>
          <p:cNvPr id="33" name="Text 31"/>
          <p:cNvSpPr/>
          <p:nvPr/>
        </p:nvSpPr>
        <p:spPr>
          <a:xfrm>
            <a:off x="6766560" y="5413248"/>
            <a:ext cx="4846320" cy="365760"/>
          </a:xfrm>
          <a:prstGeom prst="rect">
            <a:avLst/>
          </a:prstGeom>
          <a:noFill/>
          <a:ln/>
        </p:spPr>
        <p:txBody>
          <a:bodyPr wrap="square" lIns="0" tIns="0" rIns="0" bIns="0" rtlCol="0" anchor="ctr"/>
          <a:lstStyle/>
          <a:p>
            <a:pPr indent="0" marL="0">
              <a:buNone/>
            </a:pPr>
            <a:r>
              <a:rPr lang="en-US" sz="1150" i="1" dirty="0">
                <a:solidFill>
                  <a:srgbClr val="6E6358"/>
                </a:solidFill>
                <a:latin typeface="Calibri" pitchFamily="34" charset="0"/>
                <a:ea typeface="Calibri" pitchFamily="34" charset="-122"/>
                <a:cs typeface="Calibri" pitchFamily="34" charset="-120"/>
              </a:rPr>
              <a:t>“Off-manifold = interesting” shows up in both sciences — the same idea, two different skies.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733"/>
        </a:solidFill>
      </p:bgPr>
    </p:bg>
    <p:spTree>
      <p:nvGrpSpPr>
        <p:cNvPr id="1" name=""/>
        <p:cNvGrpSpPr/>
        <p:nvPr/>
      </p:nvGrpSpPr>
      <p:grpSpPr>
        <a:xfrm>
          <a:off x="0" y="0"/>
          <a:ext cx="0" cy="0"/>
          <a:chOff x="0" y="0"/>
          <a:chExt cx="0" cy="0"/>
        </a:xfrm>
      </p:grpSpPr>
      <p:sp>
        <p:nvSpPr>
          <p:cNvPr id="2" name="Shape 0"/>
          <p:cNvSpPr/>
          <p:nvPr/>
        </p:nvSpPr>
        <p:spPr>
          <a:xfrm>
            <a:off x="8503920" y="-1097280"/>
            <a:ext cx="5120640" cy="5120640"/>
          </a:xfrm>
          <a:prstGeom prst="ellipse">
            <a:avLst/>
          </a:prstGeom>
          <a:solidFill>
            <a:srgbClr val="16323F"/>
          </a:solidFill>
          <a:ln w="12700">
            <a:solidFill>
              <a:srgbClr val="27485A"/>
            </a:solidFill>
            <a:prstDash val="solid"/>
          </a:ln>
        </p:spPr>
      </p:sp>
      <p:sp>
        <p:nvSpPr>
          <p:cNvPr id="3" name="Text 1"/>
          <p:cNvSpPr/>
          <p:nvPr/>
        </p:nvSpPr>
        <p:spPr>
          <a:xfrm>
            <a:off x="566928" y="1874520"/>
            <a:ext cx="7315200" cy="457200"/>
          </a:xfrm>
          <a:prstGeom prst="rect">
            <a:avLst/>
          </a:prstGeom>
          <a:noFill/>
          <a:ln/>
        </p:spPr>
        <p:txBody>
          <a:bodyPr wrap="square" lIns="0" tIns="0" rIns="0" bIns="0" rtlCol="0" anchor="ctr"/>
          <a:lstStyle/>
          <a:p>
            <a:pPr indent="0" marL="0">
              <a:buNone/>
            </a:pPr>
            <a:r>
              <a:rPr lang="en-US" sz="1500" b="1" spc="400" kern="0" dirty="0">
                <a:solidFill>
                  <a:srgbClr val="5AA9C9"/>
                </a:solidFill>
                <a:latin typeface="Calibri" pitchFamily="34" charset="0"/>
                <a:ea typeface="Calibri" pitchFamily="34" charset="-122"/>
                <a:cs typeface="Calibri" pitchFamily="34" charset="-120"/>
              </a:rPr>
              <a:t>PART I</a:t>
            </a:r>
            <a:endParaRPr lang="en-US" sz="1500" dirty="0"/>
          </a:p>
        </p:txBody>
      </p:sp>
      <p:sp>
        <p:nvSpPr>
          <p:cNvPr id="4" name="Text 2"/>
          <p:cNvSpPr/>
          <p:nvPr/>
        </p:nvSpPr>
        <p:spPr>
          <a:xfrm>
            <a:off x="548640" y="2286000"/>
            <a:ext cx="9509760" cy="146304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The models</a:t>
            </a:r>
            <a:endParaRPr lang="en-US" sz="4200" dirty="0"/>
          </a:p>
        </p:txBody>
      </p:sp>
      <p:sp>
        <p:nvSpPr>
          <p:cNvPr id="5" name="Text 3"/>
          <p:cNvSpPr/>
          <p:nvPr/>
        </p:nvSpPr>
        <p:spPr>
          <a:xfrm>
            <a:off x="566928" y="4023360"/>
            <a:ext cx="9509760" cy="640080"/>
          </a:xfrm>
          <a:prstGeom prst="rect">
            <a:avLst/>
          </a:prstGeom>
          <a:noFill/>
          <a:ln/>
        </p:spPr>
        <p:txBody>
          <a:bodyPr wrap="square" lIns="0" tIns="0" rIns="0" bIns="0" rtlCol="0" anchor="ctr"/>
          <a:lstStyle/>
          <a:p>
            <a:pPr indent="0" marL="0">
              <a:buNone/>
            </a:pPr>
            <a:r>
              <a:rPr lang="en-US" sz="1900" i="1" dirty="0">
                <a:solidFill>
                  <a:srgbClr val="C8D8DE"/>
                </a:solidFill>
                <a:latin typeface="Cambria" pitchFamily="34" charset="0"/>
                <a:ea typeface="Cambria" pitchFamily="34" charset="-122"/>
                <a:cs typeface="Cambria" pitchFamily="34" charset="-120"/>
              </a:rPr>
              <a:t>From the exactly-solved linear case to the variational autoencoder.</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THE MODELS · MOTIVATION</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Why compress at all? The manifold hypothesis</a:t>
            </a:r>
            <a:endParaRPr lang="en-US" sz="2900" dirty="0"/>
          </a:p>
        </p:txBody>
      </p:sp>
      <p:sp>
        <p:nvSpPr>
          <p:cNvPr id="4" name="Shape 2"/>
          <p:cNvSpPr/>
          <p:nvPr/>
        </p:nvSpPr>
        <p:spPr>
          <a:xfrm>
            <a:off x="11057839" y="457200"/>
            <a:ext cx="566928" cy="566928"/>
          </a:xfrm>
          <a:prstGeom prst="ellipse">
            <a:avLst/>
          </a:prstGeom>
          <a:solidFill>
            <a:srgbClr val="065A82"/>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566928" y="1719072"/>
            <a:ext cx="5897880" cy="265176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rgbClr val="1A1A1A"/>
                </a:solidFill>
                <a:latin typeface="Calibri" pitchFamily="34" charset="0"/>
                <a:ea typeface="Calibri" pitchFamily="34" charset="-122"/>
                <a:cs typeface="Calibri" pitchFamily="34" charset="-120"/>
              </a:rPr>
              <a:t>A 256×256 colour image is a point in ℝ^196,608 — yet a uniform random draw is pure static, never a face or a galaxy.</a:t>
            </a:r>
            <a:endParaRPr lang="en-US" sz="1500" dirty="0"/>
          </a:p>
          <a:p>
            <a:pPr marL="177800" indent="-177800">
              <a:spcAft>
                <a:spcPts val="900"/>
              </a:spcAft>
              <a:buSzPct val="100000"/>
              <a:buChar char="•"/>
            </a:pPr>
            <a:r>
              <a:rPr lang="en-US" sz="1500" dirty="0">
                <a:solidFill>
                  <a:srgbClr val="1A1A1A"/>
                </a:solidFill>
                <a:latin typeface="Calibri" pitchFamily="34" charset="0"/>
                <a:ea typeface="Calibri" pitchFamily="34" charset="-122"/>
                <a:cs typeface="Calibri" pitchFamily="34" charset="-120"/>
              </a:rPr>
              <a:t>The data we care about occupies a thin, highly curved sliver of that ambient space.</a:t>
            </a:r>
            <a:endParaRPr lang="en-US" sz="1500" dirty="0"/>
          </a:p>
          <a:p>
            <a:pPr marL="177800" indent="-177800">
              <a:spcAft>
                <a:spcPts val="900"/>
              </a:spcAft>
              <a:buSzPct val="100000"/>
              <a:buChar char="•"/>
            </a:pPr>
            <a:r>
              <a:rPr lang="en-US" sz="1500" dirty="0">
                <a:solidFill>
                  <a:srgbClr val="065A82"/>
                </a:solidFill>
                <a:latin typeface="Calibri" pitchFamily="34" charset="0"/>
                <a:ea typeface="Calibri" pitchFamily="34" charset="-122"/>
                <a:cs typeface="Calibri" pitchFamily="34" charset="-120"/>
              </a:rPr>
              <a:t>Reason: only a few generative factors vary — a galaxy spectrum is set by age, metallicity, star-formation, redshift, dust; a few numbers, not 4000.</a:t>
            </a:r>
            <a:endParaRPr lang="en-US" sz="1500" dirty="0"/>
          </a:p>
          <a:p>
            <a:pPr marL="177800" indent="-177800">
              <a:spcAft>
                <a:spcPts val="900"/>
              </a:spcAft>
              <a:buSzPct val="100000"/>
              <a:buChar char="•"/>
            </a:pPr>
            <a:r>
              <a:rPr lang="en-US" sz="1500" dirty="0">
                <a:solidFill>
                  <a:srgbClr val="1A1A1A"/>
                </a:solidFill>
                <a:latin typeface="Calibri" pitchFamily="34" charset="0"/>
                <a:ea typeface="Calibri" pitchFamily="34" charset="-122"/>
                <a:cs typeface="Calibri" pitchFamily="34" charset="-120"/>
              </a:rPr>
              <a:t>Same story for images, gene counts, turbulent fields: nominally enormous, intrinsically low-dimensional.</a:t>
            </a:r>
            <a:endParaRPr lang="en-US" sz="1500" dirty="0"/>
          </a:p>
        </p:txBody>
      </p:sp>
      <p:sp>
        <p:nvSpPr>
          <p:cNvPr id="7" name="Shape 5"/>
          <p:cNvSpPr/>
          <p:nvPr/>
        </p:nvSpPr>
        <p:spPr>
          <a:xfrm>
            <a:off x="566928" y="4416552"/>
            <a:ext cx="5897880" cy="1371600"/>
          </a:xfrm>
          <a:prstGeom prst="roundRect">
            <a:avLst>
              <a:gd name="adj" fmla="val 4000"/>
            </a:avLst>
          </a:prstGeom>
          <a:solidFill>
            <a:srgbClr val="F6F2E8"/>
          </a:solidFill>
          <a:ln/>
          <a:effectLst>
            <a:outerShdw sx="100000" sy="100000" kx="0" ky="0" algn="bl" rotWithShape="0" blurRad="63500" dist="38100" dir="5400000">
              <a:srgbClr val="000000">
                <a:alpha val="10000"/>
              </a:srgbClr>
            </a:outerShdw>
          </a:effectLst>
        </p:spPr>
      </p:sp>
      <p:sp>
        <p:nvSpPr>
          <p:cNvPr id="8" name="Shape 6"/>
          <p:cNvSpPr/>
          <p:nvPr/>
        </p:nvSpPr>
        <p:spPr>
          <a:xfrm>
            <a:off x="713232" y="4553712"/>
            <a:ext cx="727862" cy="274320"/>
          </a:xfrm>
          <a:prstGeom prst="roundRect">
            <a:avLst>
              <a:gd name="adj" fmla="val 13333"/>
            </a:avLst>
          </a:prstGeom>
          <a:solidFill>
            <a:srgbClr val="8A6F1F"/>
          </a:solidFill>
          <a:ln/>
        </p:spPr>
      </p:sp>
      <p:sp>
        <p:nvSpPr>
          <p:cNvPr id="9" name="Text 7"/>
          <p:cNvSpPr/>
          <p:nvPr/>
        </p:nvSpPr>
        <p:spPr>
          <a:xfrm>
            <a:off x="713232" y="4553712"/>
            <a:ext cx="727862"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IDEA</a:t>
            </a:r>
            <a:endParaRPr lang="en-US" sz="1050" dirty="0"/>
          </a:p>
        </p:txBody>
      </p:sp>
      <p:sp>
        <p:nvSpPr>
          <p:cNvPr id="10" name="Text 8"/>
          <p:cNvSpPr/>
          <p:nvPr/>
        </p:nvSpPr>
        <p:spPr>
          <a:xfrm>
            <a:off x="713232" y="4864608"/>
            <a:ext cx="5605272" cy="82296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Data concentrates near a manifold M ⊂ ℝ^D of intrinsic dimension d ≪ D. We want a code z = f(x) that is faithful where data lives and indifferent elsewhere — and a decoder that maps back. Compression, representation, and generation in one device.</a:t>
            </a:r>
            <a:endParaRPr lang="en-US" sz="1200" dirty="0"/>
          </a:p>
        </p:txBody>
      </p:sp>
      <p:pic>
        <p:nvPicPr>
          <p:cNvPr id="11" name="Image 0" descr="/home/claude/deck/../assets/m_manifold.png">    </p:cNvPr>
          <p:cNvPicPr>
            <a:picLocks noChangeAspect="1"/>
          </p:cNvPicPr>
          <p:nvPr/>
        </p:nvPicPr>
        <p:blipFill>
          <a:blip r:embed="rId1"/>
          <a:stretch>
            <a:fillRect/>
          </a:stretch>
        </p:blipFill>
        <p:spPr>
          <a:xfrm>
            <a:off x="6766560" y="1966773"/>
            <a:ext cx="4892040" cy="2979318"/>
          </a:xfrm>
          <a:prstGeom prst="rect">
            <a:avLst/>
          </a:prstGeom>
        </p:spPr>
      </p:pic>
      <p:sp>
        <p:nvSpPr>
          <p:cNvPr id="12" name="Text 9"/>
          <p:cNvSpPr/>
          <p:nvPr/>
        </p:nvSpPr>
        <p:spPr>
          <a:xfrm>
            <a:off x="6766560" y="5239512"/>
            <a:ext cx="4892040" cy="365760"/>
          </a:xfrm>
          <a:prstGeom prst="rect">
            <a:avLst/>
          </a:prstGeom>
          <a:noFill/>
          <a:ln/>
        </p:spPr>
        <p:txBody>
          <a:bodyPr wrap="square" lIns="0" tIns="0" rIns="0" bIns="0" rtlCol="0" anchor="ctr"/>
          <a:lstStyle/>
          <a:p>
            <a:pPr algn="ctr" indent="0" marL="0">
              <a:buNone/>
            </a:pPr>
            <a:r>
              <a:rPr lang="en-US" sz="1050" i="1" dirty="0">
                <a:solidFill>
                  <a:srgbClr val="6E6358"/>
                </a:solidFill>
                <a:latin typeface="Calibri" pitchFamily="34" charset="0"/>
                <a:ea typeface="Calibri" pitchFamily="34" charset="-122"/>
                <a:cs typeface="Calibri" pitchFamily="34" charset="-120"/>
              </a:rPr>
              <a:t>Data clusters on M; almost all of ℝ^D is empty.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THE MODELS · LINEAR THEORY</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Strip it to the bone: the linear AE is PCA</a:t>
            </a:r>
            <a:endParaRPr lang="en-US" sz="2900" dirty="0"/>
          </a:p>
        </p:txBody>
      </p:sp>
      <p:sp>
        <p:nvSpPr>
          <p:cNvPr id="4" name="Shape 2"/>
          <p:cNvSpPr/>
          <p:nvPr/>
        </p:nvSpPr>
        <p:spPr>
          <a:xfrm>
            <a:off x="11057839" y="457200"/>
            <a:ext cx="566928" cy="566928"/>
          </a:xfrm>
          <a:prstGeom prst="ellipse">
            <a:avLst/>
          </a:prstGeom>
          <a:solidFill>
            <a:srgbClr val="065A82"/>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6" name="Text 4"/>
          <p:cNvSpPr/>
          <p:nvPr/>
        </p:nvSpPr>
        <p:spPr>
          <a:xfrm>
            <a:off x="566928" y="1627632"/>
            <a:ext cx="6583680" cy="292608"/>
          </a:xfrm>
          <a:prstGeom prst="rect">
            <a:avLst/>
          </a:prstGeom>
          <a:noFill/>
          <a:ln/>
        </p:spPr>
        <p:txBody>
          <a:bodyPr wrap="square" lIns="0" tIns="0" rIns="0" bIns="0" rtlCol="0" anchor="ctr"/>
          <a:lstStyle/>
          <a:p>
            <a:pPr indent="0" marL="0">
              <a:buNone/>
            </a:pPr>
            <a:r>
              <a:rPr lang="en-US" sz="1350" dirty="0">
                <a:solidFill>
                  <a:srgbClr val="6E6358"/>
                </a:solidFill>
                <a:latin typeface="Calibri" pitchFamily="34" charset="0"/>
                <a:ea typeface="Calibri" pitchFamily="34" charset="-122"/>
                <a:cs typeface="Calibri" pitchFamily="34" charset="-120"/>
              </a:rPr>
              <a:t>Linear encoder, linear decoder, squared-error loss:</a:t>
            </a:r>
            <a:endParaRPr lang="en-US" sz="1350" dirty="0"/>
          </a:p>
        </p:txBody>
      </p:sp>
      <p:pic>
        <p:nvPicPr>
          <p:cNvPr id="7" name="Image 0" descr="/home/claude/deck/../assets/eq_linsetup.png">    </p:cNvPr>
          <p:cNvPicPr>
            <a:picLocks noChangeAspect="1"/>
          </p:cNvPicPr>
          <p:nvPr/>
        </p:nvPicPr>
        <p:blipFill>
          <a:blip r:embed="rId1"/>
          <a:stretch>
            <a:fillRect/>
          </a:stretch>
        </p:blipFill>
        <p:spPr>
          <a:xfrm>
            <a:off x="1412839" y="1975104"/>
            <a:ext cx="4983297" cy="566928"/>
          </a:xfrm>
          <a:prstGeom prst="rect">
            <a:avLst/>
          </a:prstGeom>
        </p:spPr>
      </p:pic>
      <p:pic>
        <p:nvPicPr>
          <p:cNvPr id="8" name="Image 1" descr="/home/claude/deck/../assets/eq_ey.png">    </p:cNvPr>
          <p:cNvPicPr>
            <a:picLocks noChangeAspect="1"/>
          </p:cNvPicPr>
          <p:nvPr/>
        </p:nvPicPr>
        <p:blipFill>
          <a:blip r:embed="rId2"/>
          <a:stretch>
            <a:fillRect/>
          </a:stretch>
        </p:blipFill>
        <p:spPr>
          <a:xfrm>
            <a:off x="1816547" y="2724912"/>
            <a:ext cx="4358762" cy="777240"/>
          </a:xfrm>
          <a:prstGeom prst="rect">
            <a:avLst/>
          </a:prstGeom>
        </p:spPr>
      </p:pic>
      <p:sp>
        <p:nvSpPr>
          <p:cNvPr id="9" name="Text 5"/>
          <p:cNvSpPr/>
          <p:nvPr/>
        </p:nvSpPr>
        <p:spPr>
          <a:xfrm>
            <a:off x="566928" y="3502152"/>
            <a:ext cx="6858000" cy="365760"/>
          </a:xfrm>
          <a:prstGeom prst="rect">
            <a:avLst/>
          </a:prstGeom>
          <a:noFill/>
          <a:ln/>
        </p:spPr>
        <p:txBody>
          <a:bodyPr wrap="square" lIns="0" tIns="0" rIns="0" bIns="0" rtlCol="0" anchor="ctr"/>
          <a:lstStyle/>
          <a:p>
            <a:pPr algn="ctr" indent="0" marL="0">
              <a:buNone/>
            </a:pPr>
            <a:r>
              <a:rPr lang="en-US" sz="1050" i="1" dirty="0">
                <a:solidFill>
                  <a:srgbClr val="6E6358"/>
                </a:solidFill>
                <a:latin typeface="Calibri" pitchFamily="34" charset="0"/>
                <a:ea typeface="Calibri" pitchFamily="34" charset="-122"/>
                <a:cs typeface="Calibri" pitchFamily="34" charset="-120"/>
              </a:rPr>
              <a:t>Eckart–Young (1936): the best rank-d fit is the truncated SVD — i.e. PCA.</a:t>
            </a:r>
            <a:endParaRPr lang="en-US" sz="1050" dirty="0"/>
          </a:p>
        </p:txBody>
      </p:sp>
      <p:pic>
        <p:nvPicPr>
          <p:cNvPr id="10" name="Image 2" descr="/home/claude/deck/../assets/eq_pca.png">    </p:cNvPr>
          <p:cNvPicPr>
            <a:picLocks noChangeAspect="1"/>
          </p:cNvPicPr>
          <p:nvPr/>
        </p:nvPicPr>
        <p:blipFill>
          <a:blip r:embed="rId3"/>
          <a:stretch>
            <a:fillRect/>
          </a:stretch>
        </p:blipFill>
        <p:spPr>
          <a:xfrm>
            <a:off x="1096658" y="3913632"/>
            <a:ext cx="5798540" cy="566928"/>
          </a:xfrm>
          <a:prstGeom prst="rect">
            <a:avLst/>
          </a:prstGeom>
        </p:spPr>
      </p:pic>
      <p:sp>
        <p:nvSpPr>
          <p:cNvPr id="11" name="Text 6"/>
          <p:cNvSpPr/>
          <p:nvPr/>
        </p:nvSpPr>
        <p:spPr>
          <a:xfrm>
            <a:off x="7543800" y="1673352"/>
            <a:ext cx="4114800" cy="283464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The optimum is the PCA subspace: span of the top-d eigenvectors of the covariance.</a:t>
            </a:r>
            <a:endParaRPr lang="en-US" sz="1400" dirty="0"/>
          </a:p>
          <a:p>
            <a:pPr marL="177800" indent="-1778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Every local minimum is global (Baldi–Hornik 1989) — despite a non-convex loss.</a:t>
            </a:r>
            <a:endParaRPr lang="en-US" sz="1400" dirty="0"/>
          </a:p>
          <a:p>
            <a:pPr marL="177800" indent="-177800">
              <a:spcAft>
                <a:spcPts val="800"/>
              </a:spcAft>
              <a:buSzPct val="100000"/>
              <a:buChar char="•"/>
            </a:pPr>
            <a:r>
              <a:rPr lang="en-US" sz="1400" dirty="0">
                <a:solidFill>
                  <a:srgbClr val="1A1A1A"/>
                </a:solidFill>
                <a:latin typeface="Calibri" pitchFamily="34" charset="0"/>
                <a:ea typeface="Calibri" pitchFamily="34" charset="-122"/>
                <a:cs typeface="Calibri" pitchFamily="34" charset="-120"/>
              </a:rPr>
              <a:t>Proof in one move: rotate to the basis where the problem is diagonal; keep the largest singular values.</a:t>
            </a:r>
            <a:endParaRPr lang="en-US" sz="1400" dirty="0"/>
          </a:p>
        </p:txBody>
      </p:sp>
      <p:sp>
        <p:nvSpPr>
          <p:cNvPr id="12" name="Shape 7"/>
          <p:cNvSpPr/>
          <p:nvPr/>
        </p:nvSpPr>
        <p:spPr>
          <a:xfrm>
            <a:off x="566928" y="4690872"/>
            <a:ext cx="11064240" cy="1051560"/>
          </a:xfrm>
          <a:prstGeom prst="roundRect">
            <a:avLst>
              <a:gd name="adj" fmla="val 5217"/>
            </a:avLst>
          </a:prstGeom>
          <a:solidFill>
            <a:srgbClr val="F7EFEE"/>
          </a:solidFill>
          <a:ln/>
          <a:effectLst>
            <a:outerShdw sx="100000" sy="100000" kx="0" ky="0" algn="bl" rotWithShape="0" blurRad="63500" dist="38100" dir="5400000">
              <a:srgbClr val="000000">
                <a:alpha val="10000"/>
              </a:srgbClr>
            </a:outerShdw>
          </a:effectLst>
        </p:spPr>
      </p:sp>
      <p:sp>
        <p:nvSpPr>
          <p:cNvPr id="13" name="Shape 8"/>
          <p:cNvSpPr/>
          <p:nvPr/>
        </p:nvSpPr>
        <p:spPr>
          <a:xfrm>
            <a:off x="713232" y="4828032"/>
            <a:ext cx="577901" cy="274320"/>
          </a:xfrm>
          <a:prstGeom prst="roundRect">
            <a:avLst>
              <a:gd name="adj" fmla="val 13333"/>
            </a:avLst>
          </a:prstGeom>
          <a:solidFill>
            <a:srgbClr val="B85042"/>
          </a:solidFill>
          <a:ln/>
        </p:spPr>
      </p:sp>
      <p:sp>
        <p:nvSpPr>
          <p:cNvPr id="14" name="Text 9"/>
          <p:cNvSpPr/>
          <p:nvPr/>
        </p:nvSpPr>
        <p:spPr>
          <a:xfrm>
            <a:off x="713232" y="4828032"/>
            <a:ext cx="577901"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GOTCHA</a:t>
            </a:r>
            <a:endParaRPr lang="en-US" sz="1050" dirty="0"/>
          </a:p>
        </p:txBody>
      </p:sp>
      <p:sp>
        <p:nvSpPr>
          <p:cNvPr id="15" name="Text 10"/>
          <p:cNvSpPr/>
          <p:nvPr/>
        </p:nvSpPr>
        <p:spPr>
          <a:xfrm>
            <a:off x="713232" y="5138928"/>
            <a:ext cx="10771632" cy="50292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Non-identifiability: the loss is invariant under W₁→A⁻¹W₁, W₂→W₂A. The d-dimensional subspace is pinned down, but the axes inside it are not — the root reason “disentanglement” is hard. “Latent unit 7 = age” is usually an accident of the seed.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THE MODELS · WHERE LINEAR BREAKS</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The Swiss roll: where linear methods collide</a:t>
            </a:r>
            <a:endParaRPr lang="en-US" sz="2900" dirty="0"/>
          </a:p>
        </p:txBody>
      </p:sp>
      <p:sp>
        <p:nvSpPr>
          <p:cNvPr id="4" name="Shape 2"/>
          <p:cNvSpPr/>
          <p:nvPr/>
        </p:nvSpPr>
        <p:spPr>
          <a:xfrm>
            <a:off x="11057839" y="457200"/>
            <a:ext cx="566928" cy="566928"/>
          </a:xfrm>
          <a:prstGeom prst="ellipse">
            <a:avLst/>
          </a:prstGeom>
          <a:solidFill>
            <a:srgbClr val="065A82"/>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pic>
        <p:nvPicPr>
          <p:cNvPr id="6" name="Image 0" descr="/home/claude/deck/../assets/m_swiss.png">    </p:cNvPr>
          <p:cNvPicPr>
            <a:picLocks noChangeAspect="1"/>
          </p:cNvPicPr>
          <p:nvPr/>
        </p:nvPicPr>
        <p:blipFill>
          <a:blip r:embed="rId1"/>
          <a:stretch>
            <a:fillRect/>
          </a:stretch>
        </p:blipFill>
        <p:spPr>
          <a:xfrm>
            <a:off x="1356055" y="1645920"/>
            <a:ext cx="9485986" cy="4160520"/>
          </a:xfrm>
          <a:prstGeom prst="rect">
            <a:avLst/>
          </a:prstGeom>
        </p:spPr>
      </p:pic>
      <p:sp>
        <p:nvSpPr>
          <p:cNvPr id="7" name="Shape 4"/>
          <p:cNvSpPr/>
          <p:nvPr/>
        </p:nvSpPr>
        <p:spPr>
          <a:xfrm>
            <a:off x="566928" y="5907024"/>
            <a:ext cx="11064240" cy="822960"/>
          </a:xfrm>
          <a:prstGeom prst="roundRect">
            <a:avLst>
              <a:gd name="adj" fmla="val 6667"/>
            </a:avLst>
          </a:prstGeom>
          <a:solidFill>
            <a:srgbClr val="F6F2E8"/>
          </a:solidFill>
          <a:ln/>
          <a:effectLst>
            <a:outerShdw sx="100000" sy="100000" kx="0" ky="0" algn="bl" rotWithShape="0" blurRad="63500" dist="38100" dir="5400000">
              <a:srgbClr val="000000">
                <a:alpha val="10000"/>
              </a:srgbClr>
            </a:outerShdw>
          </a:effectLst>
        </p:spPr>
      </p:sp>
      <p:sp>
        <p:nvSpPr>
          <p:cNvPr id="8" name="Shape 5"/>
          <p:cNvSpPr/>
          <p:nvPr/>
        </p:nvSpPr>
        <p:spPr>
          <a:xfrm>
            <a:off x="713232" y="6044184"/>
            <a:ext cx="727862" cy="274320"/>
          </a:xfrm>
          <a:prstGeom prst="roundRect">
            <a:avLst>
              <a:gd name="adj" fmla="val 13333"/>
            </a:avLst>
          </a:prstGeom>
          <a:solidFill>
            <a:srgbClr val="8A6F1F"/>
          </a:solidFill>
          <a:ln/>
        </p:spPr>
      </p:sp>
      <p:sp>
        <p:nvSpPr>
          <p:cNvPr id="9" name="Text 6"/>
          <p:cNvSpPr/>
          <p:nvPr/>
        </p:nvSpPr>
        <p:spPr>
          <a:xfrm>
            <a:off x="713232" y="6044184"/>
            <a:ext cx="727862"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IDEA</a:t>
            </a:r>
            <a:endParaRPr lang="en-US" sz="1050" dirty="0"/>
          </a:p>
        </p:txBody>
      </p:sp>
      <p:sp>
        <p:nvSpPr>
          <p:cNvPr id="10" name="Text 7"/>
          <p:cNvSpPr/>
          <p:nvPr/>
        </p:nvSpPr>
        <p:spPr>
          <a:xfrm>
            <a:off x="713232" y="6355080"/>
            <a:ext cx="10771632" cy="27432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Same 2-D sheet, six views. PCA's plane collides the coils (reconstruction MSE ≈ 7); the nonlinear maps — Isomap, LLE, Laplacian eigenmaps, t-SNE — unroll it (MSE &lt; 0.05). Nonlinearity buys fitting power, but the symmetry grows from rotations to all diffeomorphisms, so “what does a latent axis mean?” becomes a coordinate choice.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THE MODELS · NONLINEAR AUTOENCODER</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The hourglass — and a hidden modelling choice</a:t>
            </a:r>
            <a:endParaRPr lang="en-US" sz="2900" dirty="0"/>
          </a:p>
        </p:txBody>
      </p:sp>
      <p:sp>
        <p:nvSpPr>
          <p:cNvPr id="4" name="Shape 2"/>
          <p:cNvSpPr/>
          <p:nvPr/>
        </p:nvSpPr>
        <p:spPr>
          <a:xfrm>
            <a:off x="11057839" y="457200"/>
            <a:ext cx="566928" cy="566928"/>
          </a:xfrm>
          <a:prstGeom prst="ellipse">
            <a:avLst/>
          </a:prstGeom>
          <a:solidFill>
            <a:srgbClr val="065A82"/>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pic>
        <p:nvPicPr>
          <p:cNvPr id="6" name="Image 0" descr="/home/claude/deck/../assets/m_hourglass.png">    </p:cNvPr>
          <p:cNvPicPr>
            <a:picLocks noChangeAspect="1"/>
          </p:cNvPicPr>
          <p:nvPr/>
        </p:nvPicPr>
        <p:blipFill>
          <a:blip r:embed="rId1"/>
          <a:stretch>
            <a:fillRect/>
          </a:stretch>
        </p:blipFill>
        <p:spPr>
          <a:xfrm>
            <a:off x="6217920" y="1926420"/>
            <a:ext cx="5440680" cy="2877144"/>
          </a:xfrm>
          <a:prstGeom prst="rect">
            <a:avLst/>
          </a:prstGeom>
        </p:spPr>
      </p:pic>
      <p:sp>
        <p:nvSpPr>
          <p:cNvPr id="7" name="Text 4"/>
          <p:cNvSpPr/>
          <p:nvPr/>
        </p:nvSpPr>
        <p:spPr>
          <a:xfrm>
            <a:off x="6217920" y="4965192"/>
            <a:ext cx="5440680" cy="365760"/>
          </a:xfrm>
          <a:prstGeom prst="rect">
            <a:avLst/>
          </a:prstGeom>
          <a:noFill/>
          <a:ln/>
        </p:spPr>
        <p:txBody>
          <a:bodyPr wrap="square" lIns="0" tIns="0" rIns="0" bIns="0" rtlCol="0" anchor="ctr"/>
          <a:lstStyle/>
          <a:p>
            <a:pPr algn="ctr" indent="0" marL="0">
              <a:buNone/>
            </a:pPr>
            <a:r>
              <a:rPr lang="en-US" sz="1050" i="1" dirty="0">
                <a:solidFill>
                  <a:srgbClr val="6E6358"/>
                </a:solidFill>
                <a:latin typeface="Calibri" pitchFamily="34" charset="0"/>
                <a:ea typeface="Calibri" pitchFamily="34" charset="-122"/>
                <a:cs typeface="Calibri" pitchFamily="34" charset="-120"/>
              </a:rPr>
              <a:t>Wide → narrow → wide. The bottleneck keeps only what rebuilds x.</a:t>
            </a:r>
            <a:endParaRPr lang="en-US" sz="1050" dirty="0"/>
          </a:p>
        </p:txBody>
      </p:sp>
      <p:sp>
        <p:nvSpPr>
          <p:cNvPr id="8" name="Text 5"/>
          <p:cNvSpPr/>
          <p:nvPr/>
        </p:nvSpPr>
        <p:spPr>
          <a:xfrm>
            <a:off x="566928" y="1810512"/>
            <a:ext cx="5212080" cy="292608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1A1A1A"/>
                </a:solidFill>
                <a:latin typeface="Calibri" pitchFamily="34" charset="0"/>
                <a:ea typeface="Calibri" pitchFamily="34" charset="-122"/>
                <a:cs typeface="Calibri" pitchFamily="34" charset="-120"/>
              </a:rPr>
              <a:t>Replace the matrices with networks: encoder f_θ : ℝ^D→ℝ^d, decoder g_φ : ℝ^d→ℝ^D.</a:t>
            </a:r>
            <a:endParaRPr lang="en-US" sz="1400" dirty="0"/>
          </a:p>
          <a:p>
            <a:pPr marL="177800" indent="-177800">
              <a:spcAft>
                <a:spcPts val="900"/>
              </a:spcAft>
              <a:buSzPct val="100000"/>
              <a:buChar char="•"/>
            </a:pPr>
            <a:r>
              <a:rPr lang="en-US" sz="1400" dirty="0">
                <a:solidFill>
                  <a:srgbClr val="2C5F2D"/>
                </a:solidFill>
                <a:latin typeface="Calibri" pitchFamily="34" charset="0"/>
                <a:ea typeface="Calibri" pitchFamily="34" charset="-122"/>
                <a:cs typeface="Calibri" pitchFamily="34" charset="-120"/>
              </a:rPr>
              <a:t>Undercomplete (d &lt; D): the bottleneck forces compression — the useful regime.</a:t>
            </a:r>
            <a:endParaRPr lang="en-US" sz="1400" dirty="0"/>
          </a:p>
          <a:p>
            <a:pPr marL="177800" indent="-177800">
              <a:spcAft>
                <a:spcPts val="900"/>
              </a:spcAft>
              <a:buSzPct val="100000"/>
              <a:buChar char="•"/>
            </a:pPr>
            <a:r>
              <a:rPr lang="en-US" sz="1400" dirty="0">
                <a:solidFill>
                  <a:srgbClr val="B85042"/>
                </a:solidFill>
                <a:latin typeface="Calibri" pitchFamily="34" charset="0"/>
                <a:ea typeface="Calibri" pitchFamily="34" charset="-122"/>
                <a:cs typeface="Calibri" pitchFamily="34" charset="-120"/>
              </a:rPr>
              <a:t>Overcomplete (d ≥ D): the identity map is trivially optimal — nothing is learned unless you regularize.</a:t>
            </a:r>
            <a:endParaRPr lang="en-US" sz="1400" dirty="0"/>
          </a:p>
          <a:p>
            <a:pPr marL="177800" indent="-177800">
              <a:spcAft>
                <a:spcPts val="900"/>
              </a:spcAft>
              <a:buSzPct val="100000"/>
              <a:buChar char="•"/>
            </a:pPr>
            <a:r>
              <a:rPr lang="en-US" sz="1400" dirty="0">
                <a:solidFill>
                  <a:srgbClr val="065A82"/>
                </a:solidFill>
                <a:latin typeface="Calibri" pitchFamily="34" charset="0"/>
                <a:ea typeface="Calibri" pitchFamily="34" charset="-122"/>
                <a:cs typeface="Calibri" pitchFamily="34" charset="-120"/>
              </a:rPr>
              <a:t>The loss L = −log p_φ(x|z) is a likelihood: MSE = Gaussian, cross-entropy = Bernoulli, NB-NLL = counts. “MSE” is a choice, not a default.</a:t>
            </a:r>
            <a:endParaRPr lang="en-US" sz="1400" dirty="0"/>
          </a:p>
        </p:txBody>
      </p:sp>
      <p:sp>
        <p:nvSpPr>
          <p:cNvPr id="9" name="Shape 6"/>
          <p:cNvSpPr/>
          <p:nvPr/>
        </p:nvSpPr>
        <p:spPr>
          <a:xfrm>
            <a:off x="566928" y="4736592"/>
            <a:ext cx="5212080" cy="960120"/>
          </a:xfrm>
          <a:prstGeom prst="roundRect">
            <a:avLst>
              <a:gd name="adj" fmla="val 5714"/>
            </a:avLst>
          </a:prstGeom>
          <a:solidFill>
            <a:srgbClr val="F6F2E8"/>
          </a:solidFill>
          <a:ln/>
          <a:effectLst>
            <a:outerShdw sx="100000" sy="100000" kx="0" ky="0" algn="bl" rotWithShape="0" blurRad="63500" dist="38100" dir="5400000">
              <a:srgbClr val="000000">
                <a:alpha val="10000"/>
              </a:srgbClr>
            </a:outerShdw>
          </a:effectLst>
        </p:spPr>
      </p:sp>
      <p:sp>
        <p:nvSpPr>
          <p:cNvPr id="10" name="Shape 7"/>
          <p:cNvSpPr/>
          <p:nvPr/>
        </p:nvSpPr>
        <p:spPr>
          <a:xfrm>
            <a:off x="713232" y="4873752"/>
            <a:ext cx="727862" cy="274320"/>
          </a:xfrm>
          <a:prstGeom prst="roundRect">
            <a:avLst>
              <a:gd name="adj" fmla="val 13333"/>
            </a:avLst>
          </a:prstGeom>
          <a:solidFill>
            <a:srgbClr val="8A6F1F"/>
          </a:solidFill>
          <a:ln/>
        </p:spPr>
      </p:sp>
      <p:sp>
        <p:nvSpPr>
          <p:cNvPr id="11" name="Text 8"/>
          <p:cNvSpPr/>
          <p:nvPr/>
        </p:nvSpPr>
        <p:spPr>
          <a:xfrm>
            <a:off x="713232" y="4873752"/>
            <a:ext cx="727862"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IDEA</a:t>
            </a:r>
            <a:endParaRPr lang="en-US" sz="1050" dirty="0"/>
          </a:p>
        </p:txBody>
      </p:sp>
      <p:sp>
        <p:nvSpPr>
          <p:cNvPr id="12" name="Text 9"/>
          <p:cNvSpPr/>
          <p:nvPr/>
        </p:nvSpPr>
        <p:spPr>
          <a:xfrm>
            <a:off x="713232" y="5184648"/>
            <a:ext cx="4919472" cy="41148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Two levers decide what an AE learns: the bottleneck width, and the regularizer. Overcomplete + a smart penalty is the gateway to the next three models.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THE MODELS · REGULARIZED AUTOENCODERS</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One geometric goal, three ways to enforce it</a:t>
            </a:r>
            <a:endParaRPr lang="en-US" sz="2900" dirty="0"/>
          </a:p>
        </p:txBody>
      </p:sp>
      <p:sp>
        <p:nvSpPr>
          <p:cNvPr id="4" name="Shape 2"/>
          <p:cNvSpPr/>
          <p:nvPr/>
        </p:nvSpPr>
        <p:spPr>
          <a:xfrm>
            <a:off x="11057839" y="457200"/>
            <a:ext cx="566928" cy="566928"/>
          </a:xfrm>
          <a:prstGeom prst="ellipse">
            <a:avLst/>
          </a:prstGeom>
          <a:solidFill>
            <a:srgbClr val="065A82"/>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pic>
        <p:nvPicPr>
          <p:cNvPr id="6" name="Image 0" descr="/home/claude/deck/../assets/m_tnorm.png">    </p:cNvPr>
          <p:cNvPicPr>
            <a:picLocks noChangeAspect="1"/>
          </p:cNvPicPr>
          <p:nvPr/>
        </p:nvPicPr>
        <p:blipFill>
          <a:blip r:embed="rId1"/>
          <a:stretch>
            <a:fillRect/>
          </a:stretch>
        </p:blipFill>
        <p:spPr>
          <a:xfrm>
            <a:off x="7066392" y="1764792"/>
            <a:ext cx="3926616" cy="2331720"/>
          </a:xfrm>
          <a:prstGeom prst="rect">
            <a:avLst/>
          </a:prstGeom>
        </p:spPr>
      </p:pic>
      <p:pic>
        <p:nvPicPr>
          <p:cNvPr id="7" name="Image 1" descr="/home/claude/deck/../assets/eq_tn.png">    </p:cNvPr>
          <p:cNvPicPr>
            <a:picLocks noChangeAspect="1"/>
          </p:cNvPicPr>
          <p:nvPr/>
        </p:nvPicPr>
        <p:blipFill>
          <a:blip r:embed="rId2"/>
          <a:stretch>
            <a:fillRect/>
          </a:stretch>
        </p:blipFill>
        <p:spPr>
          <a:xfrm>
            <a:off x="7412698" y="4233672"/>
            <a:ext cx="3096844" cy="868680"/>
          </a:xfrm>
          <a:prstGeom prst="rect">
            <a:avLst/>
          </a:prstGeom>
        </p:spPr>
      </p:pic>
      <p:sp>
        <p:nvSpPr>
          <p:cNvPr id="8" name="Text 4"/>
          <p:cNvSpPr/>
          <p:nvPr/>
        </p:nvSpPr>
        <p:spPr>
          <a:xfrm>
            <a:off x="6400800" y="5148072"/>
            <a:ext cx="5257800" cy="365760"/>
          </a:xfrm>
          <a:prstGeom prst="rect">
            <a:avLst/>
          </a:prstGeom>
          <a:noFill/>
          <a:ln/>
        </p:spPr>
        <p:txBody>
          <a:bodyPr wrap="square" lIns="0" tIns="0" rIns="0" bIns="0" rtlCol="0" anchor="ctr"/>
          <a:lstStyle/>
          <a:p>
            <a:pPr algn="ctr" indent="0" marL="0">
              <a:buNone/>
            </a:pPr>
            <a:r>
              <a:rPr lang="en-US" sz="1050" i="1" dirty="0">
                <a:solidFill>
                  <a:srgbClr val="6E6358"/>
                </a:solidFill>
                <a:latin typeface="Calibri" pitchFamily="34" charset="0"/>
                <a:ea typeface="Calibri" pitchFamily="34" charset="-122"/>
                <a:cs typeface="Calibri" pitchFamily="34" charset="-120"/>
              </a:rPr>
              <a:t>Be sensitive along M (signal); be blind across it (noise).</a:t>
            </a:r>
            <a:endParaRPr lang="en-US" sz="1050" dirty="0"/>
          </a:p>
        </p:txBody>
      </p:sp>
      <p:sp>
        <p:nvSpPr>
          <p:cNvPr id="9" name="Text 5"/>
          <p:cNvSpPr/>
          <p:nvPr/>
        </p:nvSpPr>
        <p:spPr>
          <a:xfrm>
            <a:off x="566928" y="1719072"/>
            <a:ext cx="5486400" cy="251460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1A1A1A"/>
                </a:solidFill>
                <a:latin typeface="Calibri" pitchFamily="34" charset="0"/>
                <a:ea typeface="Calibri" pitchFamily="34" charset="-122"/>
                <a:cs typeface="Calibri" pitchFamily="34" charset="-120"/>
              </a:rPr>
              <a:t>At each x, ℝ^D splits: directions ALONG M change the object (signal); directions OFF M are just noise.</a:t>
            </a:r>
            <a:endParaRPr lang="en-US" sz="1400" dirty="0"/>
          </a:p>
          <a:p>
            <a:pPr marL="177800" indent="-177800">
              <a:spcAft>
                <a:spcPts val="900"/>
              </a:spcAft>
              <a:buSzPct val="100000"/>
              <a:buChar char="•"/>
            </a:pPr>
            <a:r>
              <a:rPr lang="en-US" sz="1400" dirty="0">
                <a:solidFill>
                  <a:srgbClr val="1A1A1A"/>
                </a:solidFill>
                <a:latin typeface="Calibri" pitchFamily="34" charset="0"/>
                <a:ea typeface="Calibri" pitchFamily="34" charset="-122"/>
                <a:cs typeface="Calibri" pitchFamily="34" charset="-120"/>
              </a:rPr>
              <a:t>A high-capacity AE could memorize. The fix is to control what it is sensitive to, not just its width.</a:t>
            </a:r>
            <a:endParaRPr lang="en-US" sz="1400" dirty="0"/>
          </a:p>
          <a:p>
            <a:pPr marL="177800" indent="-177800">
              <a:spcAft>
                <a:spcPts val="900"/>
              </a:spcAft>
              <a:buSzPct val="100000"/>
              <a:buChar char="•"/>
            </a:pPr>
            <a:r>
              <a:rPr lang="en-US" sz="1400" dirty="0">
                <a:solidFill>
                  <a:srgbClr val="065A82"/>
                </a:solidFill>
                <a:latin typeface="Calibri" pitchFamily="34" charset="0"/>
                <a:ea typeface="Calibri" pitchFamily="34" charset="-122"/>
                <a:cs typeface="Calibri" pitchFamily="34" charset="-120"/>
              </a:rPr>
              <a:t>Diagnostic reused everywhere: the encoder-Jacobian singular spectrum shows a gap at d — d large values (tangent), the rest ≈ 0 (normal).</a:t>
            </a:r>
            <a:endParaRPr lang="en-US" sz="1400" dirty="0"/>
          </a:p>
        </p:txBody>
      </p:sp>
      <p:sp>
        <p:nvSpPr>
          <p:cNvPr id="10" name="Shape 6"/>
          <p:cNvSpPr/>
          <p:nvPr/>
        </p:nvSpPr>
        <p:spPr>
          <a:xfrm>
            <a:off x="566928" y="4325112"/>
            <a:ext cx="5486400" cy="1417320"/>
          </a:xfrm>
          <a:prstGeom prst="roundRect">
            <a:avLst>
              <a:gd name="adj" fmla="val 3871"/>
            </a:avLst>
          </a:prstGeom>
          <a:solidFill>
            <a:srgbClr val="F6F2E8"/>
          </a:solidFill>
          <a:ln/>
          <a:effectLst>
            <a:outerShdw sx="100000" sy="100000" kx="0" ky="0" algn="bl" rotWithShape="0" blurRad="63500" dist="38100" dir="5400000">
              <a:srgbClr val="000000">
                <a:alpha val="10000"/>
              </a:srgbClr>
            </a:outerShdw>
          </a:effectLst>
        </p:spPr>
      </p:sp>
      <p:sp>
        <p:nvSpPr>
          <p:cNvPr id="11" name="Shape 7"/>
          <p:cNvSpPr/>
          <p:nvPr/>
        </p:nvSpPr>
        <p:spPr>
          <a:xfrm>
            <a:off x="713232" y="4462272"/>
            <a:ext cx="727862" cy="274320"/>
          </a:xfrm>
          <a:prstGeom prst="roundRect">
            <a:avLst>
              <a:gd name="adj" fmla="val 13333"/>
            </a:avLst>
          </a:prstGeom>
          <a:solidFill>
            <a:srgbClr val="8A6F1F"/>
          </a:solidFill>
          <a:ln/>
        </p:spPr>
      </p:sp>
      <p:sp>
        <p:nvSpPr>
          <p:cNvPr id="12" name="Text 8"/>
          <p:cNvSpPr/>
          <p:nvPr/>
        </p:nvSpPr>
        <p:spPr>
          <a:xfrm>
            <a:off x="713232" y="4462272"/>
            <a:ext cx="727862"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IDEA</a:t>
            </a:r>
            <a:endParaRPr lang="en-US" sz="1050" dirty="0"/>
          </a:p>
        </p:txBody>
      </p:sp>
      <p:sp>
        <p:nvSpPr>
          <p:cNvPr id="13" name="Text 9"/>
          <p:cNvSpPr/>
          <p:nvPr/>
        </p:nvSpPr>
        <p:spPr>
          <a:xfrm>
            <a:off x="713232" y="4773168"/>
            <a:ext cx="5193792" cy="86868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Sparse, denoising, and contractive AEs are three routes to the same target — ignore the normal directions. Penalize activations (sparse) · resist corruption (denoising) · penalize the Jacobian (contractive). The next three slides take each in turn.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THE MODELS · SPARSE AUTOENCODER</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Sparse autoencoders: a few parts per input</a:t>
            </a:r>
            <a:endParaRPr lang="en-US" sz="2900" dirty="0"/>
          </a:p>
        </p:txBody>
      </p:sp>
      <p:sp>
        <p:nvSpPr>
          <p:cNvPr id="4" name="Shape 2"/>
          <p:cNvSpPr/>
          <p:nvPr/>
        </p:nvSpPr>
        <p:spPr>
          <a:xfrm>
            <a:off x="11057839" y="457200"/>
            <a:ext cx="566928" cy="566928"/>
          </a:xfrm>
          <a:prstGeom prst="ellipse">
            <a:avLst/>
          </a:prstGeom>
          <a:solidFill>
            <a:srgbClr val="065A82"/>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6" name="Text 4"/>
          <p:cNvSpPr/>
          <p:nvPr/>
        </p:nvSpPr>
        <p:spPr>
          <a:xfrm>
            <a:off x="566928" y="1673352"/>
            <a:ext cx="5943600" cy="32004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Keep the layer wide (often overcomplete), but force most hidden units OFF for any given input — each x is built from a few “parts.”</a:t>
            </a:r>
            <a:endParaRPr lang="en-US" sz="1350" dirty="0"/>
          </a:p>
          <a:p>
            <a:pPr marL="177800" indent="-177800">
              <a:spcAft>
                <a:spcPts val="800"/>
              </a:spcAft>
              <a:buSzPct val="100000"/>
              <a:buChar char="•"/>
            </a:pPr>
            <a:r>
              <a:rPr lang="en-US" sz="1350" dirty="0">
                <a:solidFill>
                  <a:srgbClr val="065A82"/>
                </a:solidFill>
                <a:latin typeface="Calibri" pitchFamily="34" charset="0"/>
                <a:ea typeface="Calibri" pitchFamily="34" charset="-122"/>
                <a:cs typeface="Calibri" pitchFamily="34" charset="-120"/>
              </a:rPr>
              <a:t>Penalty: pull each unit's average activation ρ̂_j to a small target ρ (a KL term), or put an L¹ penalty straight on the activations.</a:t>
            </a:r>
            <a:endParaRPr lang="en-US" sz="1350" dirty="0"/>
          </a:p>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Lineage: sparse coding (Olshausen &amp; Field 1996) — an overcomplete dictionary with an L¹ code. On natural-image patches it learns Gabor-like edge filters, strikingly close to V1 receptive fields.</a:t>
            </a:r>
            <a:endParaRPr lang="en-US" sz="1350" dirty="0"/>
          </a:p>
          <a:p>
            <a:pPr marL="177800" indent="-177800">
              <a:spcAft>
                <a:spcPts val="800"/>
              </a:spcAft>
              <a:buSzPct val="100000"/>
              <a:buChar char="•"/>
            </a:pPr>
            <a:r>
              <a:rPr lang="en-US" sz="1350" dirty="0">
                <a:solidFill>
                  <a:srgbClr val="2C5F2D"/>
                </a:solidFill>
                <a:latin typeface="Calibri" pitchFamily="34" charset="0"/>
                <a:ea typeface="Calibri" pitchFamily="34" charset="-122"/>
                <a:cs typeface="Calibri" pitchFamily="34" charset="-120"/>
              </a:rPr>
              <a:t>Payoff: interpretable, parts-based features; a strong unsupervised pretraining signal.</a:t>
            </a:r>
            <a:endParaRPr lang="en-US" sz="1350" dirty="0"/>
          </a:p>
        </p:txBody>
      </p:sp>
      <p:pic>
        <p:nvPicPr>
          <p:cNvPr id="7" name="Image 0" descr="/home/claude/deck/../assets/eq_sparse.png">    </p:cNvPr>
          <p:cNvPicPr>
            <a:picLocks noChangeAspect="1"/>
          </p:cNvPicPr>
          <p:nvPr/>
        </p:nvPicPr>
        <p:blipFill>
          <a:blip r:embed="rId1"/>
          <a:stretch>
            <a:fillRect/>
          </a:stretch>
        </p:blipFill>
        <p:spPr>
          <a:xfrm>
            <a:off x="6355080" y="1880865"/>
            <a:ext cx="5349240" cy="1002293"/>
          </a:xfrm>
          <a:prstGeom prst="rect">
            <a:avLst/>
          </a:prstGeom>
        </p:spPr>
      </p:pic>
      <p:pic>
        <p:nvPicPr>
          <p:cNvPr id="8" name="Image 1" descr="/home/claude/deck/../assets/m_sparse.png">    </p:cNvPr>
          <p:cNvPicPr>
            <a:picLocks noChangeAspect="1"/>
          </p:cNvPicPr>
          <p:nvPr/>
        </p:nvPicPr>
        <p:blipFill>
          <a:blip r:embed="rId2"/>
          <a:stretch>
            <a:fillRect/>
          </a:stretch>
        </p:blipFill>
        <p:spPr>
          <a:xfrm>
            <a:off x="7591029" y="2999232"/>
            <a:ext cx="2877342" cy="1554480"/>
          </a:xfrm>
          <a:prstGeom prst="rect">
            <a:avLst/>
          </a:prstGeom>
        </p:spPr>
      </p:pic>
      <p:sp>
        <p:nvSpPr>
          <p:cNvPr id="9" name="Shape 5"/>
          <p:cNvSpPr/>
          <p:nvPr/>
        </p:nvSpPr>
        <p:spPr>
          <a:xfrm>
            <a:off x="6355080" y="4553712"/>
            <a:ext cx="5349240" cy="1188720"/>
          </a:xfrm>
          <a:prstGeom prst="roundRect">
            <a:avLst>
              <a:gd name="adj" fmla="val 4615"/>
            </a:avLst>
          </a:prstGeom>
          <a:solidFill>
            <a:srgbClr val="F7EFEE"/>
          </a:solidFill>
          <a:ln/>
          <a:effectLst>
            <a:outerShdw sx="100000" sy="100000" kx="0" ky="0" algn="bl" rotWithShape="0" blurRad="63500" dist="38100" dir="5400000">
              <a:srgbClr val="000000">
                <a:alpha val="10000"/>
              </a:srgbClr>
            </a:outerShdw>
          </a:effectLst>
        </p:spPr>
      </p:sp>
      <p:sp>
        <p:nvSpPr>
          <p:cNvPr id="10" name="Shape 6"/>
          <p:cNvSpPr/>
          <p:nvPr/>
        </p:nvSpPr>
        <p:spPr>
          <a:xfrm>
            <a:off x="6501384" y="4690872"/>
            <a:ext cx="577901" cy="274320"/>
          </a:xfrm>
          <a:prstGeom prst="roundRect">
            <a:avLst>
              <a:gd name="adj" fmla="val 13333"/>
            </a:avLst>
          </a:prstGeom>
          <a:solidFill>
            <a:srgbClr val="B85042"/>
          </a:solidFill>
          <a:ln/>
        </p:spPr>
      </p:sp>
      <p:sp>
        <p:nvSpPr>
          <p:cNvPr id="11" name="Text 7"/>
          <p:cNvSpPr/>
          <p:nvPr/>
        </p:nvSpPr>
        <p:spPr>
          <a:xfrm>
            <a:off x="6501384" y="4690872"/>
            <a:ext cx="577901"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GOTCHA</a:t>
            </a:r>
            <a:endParaRPr lang="en-US" sz="1050" dirty="0"/>
          </a:p>
        </p:txBody>
      </p:sp>
      <p:sp>
        <p:nvSpPr>
          <p:cNvPr id="12" name="Text 8"/>
          <p:cNvSpPr/>
          <p:nvPr/>
        </p:nvSpPr>
        <p:spPr>
          <a:xfrm>
            <a:off x="6501384" y="5001768"/>
            <a:ext cx="5056632" cy="64008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The penalty weight β trades reconstruction against sparsity. Too weak → a dense, uninterpretable code; too strong → dead units that never fire. Tune ρ and β together.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THE MODELS · DENOISING AUTOENCODER</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Denoising autoencoders = learning the score</a:t>
            </a:r>
            <a:endParaRPr lang="en-US" sz="2900" dirty="0"/>
          </a:p>
        </p:txBody>
      </p:sp>
      <p:sp>
        <p:nvSpPr>
          <p:cNvPr id="4" name="Shape 2"/>
          <p:cNvSpPr/>
          <p:nvPr/>
        </p:nvSpPr>
        <p:spPr>
          <a:xfrm>
            <a:off x="11057839" y="457200"/>
            <a:ext cx="566928" cy="566928"/>
          </a:xfrm>
          <a:prstGeom prst="ellipse">
            <a:avLst/>
          </a:prstGeom>
          <a:solidFill>
            <a:srgbClr val="065A82"/>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pic>
        <p:nvPicPr>
          <p:cNvPr id="6" name="Image 0" descr="/home/claude/deck/../assets/m_score.png">    </p:cNvPr>
          <p:cNvPicPr>
            <a:picLocks noChangeAspect="1"/>
          </p:cNvPicPr>
          <p:nvPr/>
        </p:nvPicPr>
        <p:blipFill>
          <a:blip r:embed="rId1"/>
          <a:stretch>
            <a:fillRect/>
          </a:stretch>
        </p:blipFill>
        <p:spPr>
          <a:xfrm>
            <a:off x="7190293" y="1764792"/>
            <a:ext cx="3541654" cy="2103120"/>
          </a:xfrm>
          <a:prstGeom prst="rect">
            <a:avLst/>
          </a:prstGeom>
        </p:spPr>
      </p:pic>
      <p:pic>
        <p:nvPicPr>
          <p:cNvPr id="7" name="Image 1" descr="/home/claude/deck/../assets/eq_dae.png">    </p:cNvPr>
          <p:cNvPicPr>
            <a:picLocks noChangeAspect="1"/>
          </p:cNvPicPr>
          <p:nvPr/>
        </p:nvPicPr>
        <p:blipFill>
          <a:blip r:embed="rId2"/>
          <a:stretch>
            <a:fillRect/>
          </a:stretch>
        </p:blipFill>
        <p:spPr>
          <a:xfrm>
            <a:off x="6263640" y="3869567"/>
            <a:ext cx="5394960" cy="563619"/>
          </a:xfrm>
          <a:prstGeom prst="rect">
            <a:avLst/>
          </a:prstGeom>
        </p:spPr>
      </p:pic>
      <p:pic>
        <p:nvPicPr>
          <p:cNvPr id="8" name="Image 2" descr="/home/claude/deck/../assets/eq_score.png">    </p:cNvPr>
          <p:cNvPicPr>
            <a:picLocks noChangeAspect="1"/>
          </p:cNvPicPr>
          <p:nvPr/>
        </p:nvPicPr>
        <p:blipFill>
          <a:blip r:embed="rId3"/>
          <a:stretch>
            <a:fillRect/>
          </a:stretch>
        </p:blipFill>
        <p:spPr>
          <a:xfrm>
            <a:off x="7122353" y="4535424"/>
            <a:ext cx="3311774" cy="640080"/>
          </a:xfrm>
          <a:prstGeom prst="rect">
            <a:avLst/>
          </a:prstGeom>
        </p:spPr>
      </p:pic>
      <p:sp>
        <p:nvSpPr>
          <p:cNvPr id="9" name="Text 4"/>
          <p:cNvSpPr/>
          <p:nvPr/>
        </p:nvSpPr>
        <p:spPr>
          <a:xfrm>
            <a:off x="6263640" y="5148072"/>
            <a:ext cx="5394960" cy="365760"/>
          </a:xfrm>
          <a:prstGeom prst="rect">
            <a:avLst/>
          </a:prstGeom>
          <a:noFill/>
          <a:ln/>
        </p:spPr>
        <p:txBody>
          <a:bodyPr wrap="square" lIns="0" tIns="0" rIns="0" bIns="0" rtlCol="0" anchor="ctr"/>
          <a:lstStyle/>
          <a:p>
            <a:pPr algn="ctr" indent="0" marL="0">
              <a:buNone/>
            </a:pPr>
            <a:r>
              <a:rPr lang="en-US" sz="1050" i="1" dirty="0">
                <a:solidFill>
                  <a:srgbClr val="6E6358"/>
                </a:solidFill>
                <a:latin typeface="Calibri" pitchFamily="34" charset="0"/>
                <a:ea typeface="Calibri" pitchFamily="34" charset="-122"/>
                <a:cs typeface="Calibri" pitchFamily="34" charset="-120"/>
              </a:rPr>
              <a:t>The residual points toward M — the score of the smoothed density.</a:t>
            </a:r>
            <a:endParaRPr lang="en-US" sz="1050" dirty="0"/>
          </a:p>
        </p:txBody>
      </p:sp>
      <p:sp>
        <p:nvSpPr>
          <p:cNvPr id="10" name="Text 5"/>
          <p:cNvSpPr/>
          <p:nvPr/>
        </p:nvSpPr>
        <p:spPr>
          <a:xfrm>
            <a:off x="566928" y="1719072"/>
            <a:ext cx="5532120" cy="301752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Corrupt the input — x̃ = x + σε, or randomly mask it — and train the net to recover the clean x.</a:t>
            </a:r>
            <a:endParaRPr lang="en-US" sz="1350" dirty="0"/>
          </a:p>
          <a:p>
            <a:pPr marL="177800" indent="-177800">
              <a:spcAft>
                <a:spcPts val="800"/>
              </a:spcAft>
              <a:buSzPct val="100000"/>
              <a:buChar char="•"/>
            </a:pPr>
            <a:r>
              <a:rPr lang="en-US" sz="1350" dirty="0">
                <a:solidFill>
                  <a:srgbClr val="2C5F2D"/>
                </a:solidFill>
                <a:latin typeface="Calibri" pitchFamily="34" charset="0"/>
                <a:ea typeface="Calibri" pitchFamily="34" charset="-122"/>
                <a:cs typeface="Calibri" pitchFamily="34" charset="-120"/>
              </a:rPr>
              <a:t>To undo corruption the network must learn the manifold: it projects x̃ back onto M.</a:t>
            </a:r>
            <a:endParaRPr lang="en-US" sz="1350" dirty="0"/>
          </a:p>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Vincent (2011): the optimal denoiser's residual equals σ²·∇log p_σ — a DAE learns the score of the noise-smoothed data density.</a:t>
            </a:r>
            <a:endParaRPr lang="en-US" sz="1350" dirty="0"/>
          </a:p>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So no bottleneck is needed — corruption itself is the regularizer (be insensitive to the noise directions).</a:t>
            </a:r>
            <a:endParaRPr lang="en-US" sz="1350" dirty="0"/>
          </a:p>
        </p:txBody>
      </p:sp>
      <p:sp>
        <p:nvSpPr>
          <p:cNvPr id="11" name="Shape 6"/>
          <p:cNvSpPr/>
          <p:nvPr/>
        </p:nvSpPr>
        <p:spPr>
          <a:xfrm>
            <a:off x="566928" y="4782312"/>
            <a:ext cx="5532120" cy="960120"/>
          </a:xfrm>
          <a:prstGeom prst="roundRect">
            <a:avLst>
              <a:gd name="adj" fmla="val 5714"/>
            </a:avLst>
          </a:prstGeom>
          <a:solidFill>
            <a:srgbClr val="F1EEF4"/>
          </a:solidFill>
          <a:ln/>
          <a:effectLst>
            <a:outerShdw sx="100000" sy="100000" kx="0" ky="0" algn="bl" rotWithShape="0" blurRad="63500" dist="38100" dir="5400000">
              <a:srgbClr val="000000">
                <a:alpha val="10000"/>
              </a:srgbClr>
            </a:outerShdw>
          </a:effectLst>
        </p:spPr>
      </p:sp>
      <p:sp>
        <p:nvSpPr>
          <p:cNvPr id="12" name="Shape 7"/>
          <p:cNvSpPr/>
          <p:nvPr/>
        </p:nvSpPr>
        <p:spPr>
          <a:xfrm>
            <a:off x="713232" y="4919472"/>
            <a:ext cx="652882" cy="274320"/>
          </a:xfrm>
          <a:prstGeom prst="roundRect">
            <a:avLst>
              <a:gd name="adj" fmla="val 13333"/>
            </a:avLst>
          </a:prstGeom>
          <a:solidFill>
            <a:srgbClr val="5A4E7C"/>
          </a:solidFill>
          <a:ln/>
        </p:spPr>
      </p:sp>
      <p:sp>
        <p:nvSpPr>
          <p:cNvPr id="13" name="Text 8"/>
          <p:cNvSpPr/>
          <p:nvPr/>
        </p:nvSpPr>
        <p:spPr>
          <a:xfrm>
            <a:off x="713232" y="4919472"/>
            <a:ext cx="652882"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HISTORY</a:t>
            </a:r>
            <a:endParaRPr lang="en-US" sz="1050" dirty="0"/>
          </a:p>
        </p:txBody>
      </p:sp>
      <p:sp>
        <p:nvSpPr>
          <p:cNvPr id="14" name="Text 9"/>
          <p:cNvSpPr/>
          <p:nvPr/>
        </p:nvSpPr>
        <p:spPr>
          <a:xfrm>
            <a:off x="713232" y="5230368"/>
            <a:ext cx="5239512" cy="41148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Train one denoiser across many noise levels and anneal σ large→small — that is a diffusion model. Published 2011; became state-of-the-art generation only in 2019–20 (Song–Ermon; Ho et al.).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THE MODELS · CONTRACTIVE AUTOENCODER</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Contractive autoencoders: penalize sensitivity directly</a:t>
            </a:r>
            <a:endParaRPr lang="en-US" sz="2900" dirty="0"/>
          </a:p>
        </p:txBody>
      </p:sp>
      <p:sp>
        <p:nvSpPr>
          <p:cNvPr id="4" name="Shape 2"/>
          <p:cNvSpPr/>
          <p:nvPr/>
        </p:nvSpPr>
        <p:spPr>
          <a:xfrm>
            <a:off x="11057839" y="457200"/>
            <a:ext cx="566928" cy="566928"/>
          </a:xfrm>
          <a:prstGeom prst="ellipse">
            <a:avLst/>
          </a:prstGeom>
          <a:solidFill>
            <a:srgbClr val="065A82"/>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08</a:t>
            </a:r>
            <a:endParaRPr lang="en-US" sz="1400" dirty="0"/>
          </a:p>
        </p:txBody>
      </p:sp>
      <p:sp>
        <p:nvSpPr>
          <p:cNvPr id="6" name="Text 4"/>
          <p:cNvSpPr/>
          <p:nvPr/>
        </p:nvSpPr>
        <p:spPr>
          <a:xfrm>
            <a:off x="566928" y="1673352"/>
            <a:ext cx="5897880" cy="29260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Add λ‖J_f(x)‖_F² — make the encoder's Jacobian small, so the code barely moves when x is nudged.</a:t>
            </a:r>
            <a:endParaRPr lang="en-US" sz="1350" dirty="0"/>
          </a:p>
          <a:p>
            <a:pPr marL="177800" indent="-177800">
              <a:spcAft>
                <a:spcPts val="800"/>
              </a:spcAft>
              <a:buSzPct val="100000"/>
              <a:buChar char="•"/>
            </a:pPr>
            <a:r>
              <a:rPr lang="en-US" sz="1350" dirty="0">
                <a:solidFill>
                  <a:srgbClr val="2C5F2D"/>
                </a:solidFill>
                <a:latin typeface="Calibri" pitchFamily="34" charset="0"/>
                <a:ea typeface="Calibri" pitchFamily="34" charset="-122"/>
                <a:cs typeface="Calibri" pitchFamily="34" charset="-120"/>
              </a:rPr>
              <a:t>It can't shrink the tangent directions (those are needed to reconstruct) — so it contracts only the normal ones, flattening the map off M.</a:t>
            </a:r>
            <a:endParaRPr lang="en-US" sz="1350" dirty="0"/>
          </a:p>
          <a:p>
            <a:pPr marL="177800" indent="-177800">
              <a:spcAft>
                <a:spcPts val="800"/>
              </a:spcAft>
              <a:buSzPct val="100000"/>
              <a:buChar char="•"/>
            </a:pPr>
            <a:r>
              <a:rPr lang="en-US" sz="1350" dirty="0">
                <a:solidFill>
                  <a:srgbClr val="065A82"/>
                </a:solidFill>
                <a:latin typeface="Calibri" pitchFamily="34" charset="0"/>
                <a:ea typeface="Calibri" pitchFamily="34" charset="-122"/>
                <a:cs typeface="Calibri" pitchFamily="34" charset="-120"/>
              </a:rPr>
              <a:t>The deep link: in the small-σ limit, the denoising objective equals reconstruction + σ²‖J‖_F². So a denoising AE is an implicit contractive AE (Alain &amp; Bengio 2014).</a:t>
            </a:r>
            <a:endParaRPr lang="en-US" sz="1350" dirty="0"/>
          </a:p>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CAE = explicit, analyzable contraction; DAE = implicit, sampling-based. Two roads, one geometry.</a:t>
            </a:r>
            <a:endParaRPr lang="en-US" sz="1350" dirty="0"/>
          </a:p>
        </p:txBody>
      </p:sp>
      <p:pic>
        <p:nvPicPr>
          <p:cNvPr id="7" name="Image 0" descr="/home/claude/deck/../assets/eq_contractive.png">    </p:cNvPr>
          <p:cNvPicPr>
            <a:picLocks noChangeAspect="1"/>
          </p:cNvPicPr>
          <p:nvPr/>
        </p:nvPicPr>
        <p:blipFill>
          <a:blip r:embed="rId1"/>
          <a:stretch>
            <a:fillRect/>
          </a:stretch>
        </p:blipFill>
        <p:spPr>
          <a:xfrm>
            <a:off x="6989143" y="1810512"/>
            <a:ext cx="4081114" cy="713232"/>
          </a:xfrm>
          <a:prstGeom prst="rect">
            <a:avLst/>
          </a:prstGeom>
        </p:spPr>
      </p:pic>
      <p:pic>
        <p:nvPicPr>
          <p:cNvPr id="8" name="Image 1" descr="/home/claude/deck/../assets/eq_cae_dae.png">    </p:cNvPr>
          <p:cNvPicPr>
            <a:picLocks noChangeAspect="1"/>
          </p:cNvPicPr>
          <p:nvPr/>
        </p:nvPicPr>
        <p:blipFill>
          <a:blip r:embed="rId2"/>
          <a:stretch>
            <a:fillRect/>
          </a:stretch>
        </p:blipFill>
        <p:spPr>
          <a:xfrm>
            <a:off x="6710599" y="2587752"/>
            <a:ext cx="4638203" cy="658368"/>
          </a:xfrm>
          <a:prstGeom prst="rect">
            <a:avLst/>
          </a:prstGeom>
        </p:spPr>
      </p:pic>
      <p:pic>
        <p:nvPicPr>
          <p:cNvPr id="9" name="Image 2" descr="/home/claude/deck/../assets/m_contract.png">    </p:cNvPr>
          <p:cNvPicPr>
            <a:picLocks noChangeAspect="1"/>
          </p:cNvPicPr>
          <p:nvPr/>
        </p:nvPicPr>
        <p:blipFill>
          <a:blip r:embed="rId3"/>
          <a:stretch>
            <a:fillRect/>
          </a:stretch>
        </p:blipFill>
        <p:spPr>
          <a:xfrm>
            <a:off x="7849575" y="3364992"/>
            <a:ext cx="2360249" cy="1234440"/>
          </a:xfrm>
          <a:prstGeom prst="rect">
            <a:avLst/>
          </a:prstGeom>
        </p:spPr>
      </p:pic>
      <p:sp>
        <p:nvSpPr>
          <p:cNvPr id="10" name="Shape 5"/>
          <p:cNvSpPr/>
          <p:nvPr/>
        </p:nvSpPr>
        <p:spPr>
          <a:xfrm>
            <a:off x="6355080" y="4690872"/>
            <a:ext cx="5349240" cy="1051560"/>
          </a:xfrm>
          <a:prstGeom prst="roundRect">
            <a:avLst>
              <a:gd name="adj" fmla="val 5217"/>
            </a:avLst>
          </a:prstGeom>
          <a:solidFill>
            <a:srgbClr val="F6F2E8"/>
          </a:solidFill>
          <a:ln/>
          <a:effectLst>
            <a:outerShdw sx="100000" sy="100000" kx="0" ky="0" algn="bl" rotWithShape="0" blurRad="63500" dist="38100" dir="5400000">
              <a:srgbClr val="000000">
                <a:alpha val="10000"/>
              </a:srgbClr>
            </a:outerShdw>
          </a:effectLst>
        </p:spPr>
      </p:sp>
      <p:sp>
        <p:nvSpPr>
          <p:cNvPr id="11" name="Shape 6"/>
          <p:cNvSpPr/>
          <p:nvPr/>
        </p:nvSpPr>
        <p:spPr>
          <a:xfrm>
            <a:off x="6501384" y="4828032"/>
            <a:ext cx="727862" cy="274320"/>
          </a:xfrm>
          <a:prstGeom prst="roundRect">
            <a:avLst>
              <a:gd name="adj" fmla="val 13333"/>
            </a:avLst>
          </a:prstGeom>
          <a:solidFill>
            <a:srgbClr val="8A6F1F"/>
          </a:solidFill>
          <a:ln/>
        </p:spPr>
      </p:sp>
      <p:sp>
        <p:nvSpPr>
          <p:cNvPr id="12" name="Text 7"/>
          <p:cNvSpPr/>
          <p:nvPr/>
        </p:nvSpPr>
        <p:spPr>
          <a:xfrm>
            <a:off x="6501384" y="4828032"/>
            <a:ext cx="727862"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IDEA</a:t>
            </a:r>
            <a:endParaRPr lang="en-US" sz="1050" dirty="0"/>
          </a:p>
        </p:txBody>
      </p:sp>
      <p:sp>
        <p:nvSpPr>
          <p:cNvPr id="13" name="Text 8"/>
          <p:cNvSpPr/>
          <p:nvPr/>
        </p:nvSpPr>
        <p:spPr>
          <a:xfrm>
            <a:off x="6501384" y="5138928"/>
            <a:ext cx="5056632" cy="50292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Sparse, denoising, and contractive are three knobs on ONE objective: be insensitive to the normal directions. That is the unifying statement for all of regularized autoencoding.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THE MODELS · VARIATIONAL AUTOENCODER (1/3)</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The VAE: a generative model with a tractable bound</a:t>
            </a:r>
            <a:endParaRPr lang="en-US" sz="2900" dirty="0"/>
          </a:p>
        </p:txBody>
      </p:sp>
      <p:sp>
        <p:nvSpPr>
          <p:cNvPr id="4" name="Shape 2"/>
          <p:cNvSpPr/>
          <p:nvPr/>
        </p:nvSpPr>
        <p:spPr>
          <a:xfrm>
            <a:off x="11057839" y="457200"/>
            <a:ext cx="566928" cy="566928"/>
          </a:xfrm>
          <a:prstGeom prst="ellipse">
            <a:avLst/>
          </a:prstGeom>
          <a:solidFill>
            <a:srgbClr val="065A82"/>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a:t>
            </a:r>
            <a:endParaRPr lang="en-US" sz="1400" dirty="0"/>
          </a:p>
        </p:txBody>
      </p:sp>
      <p:pic>
        <p:nvPicPr>
          <p:cNvPr id="6" name="Image 0" descr="/home/claude/deck/../assets/m_vae.png">    </p:cNvPr>
          <p:cNvPicPr>
            <a:picLocks noChangeAspect="1"/>
          </p:cNvPicPr>
          <p:nvPr/>
        </p:nvPicPr>
        <p:blipFill>
          <a:blip r:embed="rId1"/>
          <a:stretch>
            <a:fillRect/>
          </a:stretch>
        </p:blipFill>
        <p:spPr>
          <a:xfrm>
            <a:off x="6927883" y="1719072"/>
            <a:ext cx="3792154" cy="1874520"/>
          </a:xfrm>
          <a:prstGeom prst="rect">
            <a:avLst/>
          </a:prstGeom>
        </p:spPr>
      </p:pic>
      <p:pic>
        <p:nvPicPr>
          <p:cNvPr id="7" name="Image 1" descr="/home/claude/deck/../assets/eq_elbo.png">    </p:cNvPr>
          <p:cNvPicPr>
            <a:picLocks noChangeAspect="1"/>
          </p:cNvPicPr>
          <p:nvPr/>
        </p:nvPicPr>
        <p:blipFill>
          <a:blip r:embed="rId2"/>
          <a:stretch>
            <a:fillRect/>
          </a:stretch>
        </p:blipFill>
        <p:spPr>
          <a:xfrm>
            <a:off x="6216617" y="3685032"/>
            <a:ext cx="5214686" cy="1325880"/>
          </a:xfrm>
          <a:prstGeom prst="rect">
            <a:avLst/>
          </a:prstGeom>
        </p:spPr>
      </p:pic>
      <p:sp>
        <p:nvSpPr>
          <p:cNvPr id="8" name="Text 4"/>
          <p:cNvSpPr/>
          <p:nvPr/>
        </p:nvSpPr>
        <p:spPr>
          <a:xfrm>
            <a:off x="5989320" y="5056632"/>
            <a:ext cx="5669280" cy="365760"/>
          </a:xfrm>
          <a:prstGeom prst="rect">
            <a:avLst/>
          </a:prstGeom>
          <a:noFill/>
          <a:ln/>
        </p:spPr>
        <p:txBody>
          <a:bodyPr wrap="square" lIns="0" tIns="0" rIns="0" bIns="0" rtlCol="0" anchor="ctr"/>
          <a:lstStyle/>
          <a:p>
            <a:pPr algn="ctr" indent="0" marL="0">
              <a:buNone/>
            </a:pPr>
            <a:r>
              <a:rPr lang="en-US" sz="1050" i="1" dirty="0">
                <a:solidFill>
                  <a:srgbClr val="6E6358"/>
                </a:solidFill>
                <a:latin typeface="Calibri" pitchFamily="34" charset="0"/>
                <a:ea typeface="Calibri" pitchFamily="34" charset="-122"/>
                <a:cs typeface="Calibri" pitchFamily="34" charset="-120"/>
              </a:rPr>
              <a:t>Maximize the ELBO; reparameterize so the sampler is differentiable.</a:t>
            </a:r>
            <a:endParaRPr lang="en-US" sz="1050" dirty="0"/>
          </a:p>
        </p:txBody>
      </p:sp>
      <p:sp>
        <p:nvSpPr>
          <p:cNvPr id="9" name="Text 5"/>
          <p:cNvSpPr/>
          <p:nvPr/>
        </p:nvSpPr>
        <p:spPr>
          <a:xfrm>
            <a:off x="566928" y="1719072"/>
            <a:ext cx="5166360" cy="32004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Plain AEs leave a holey latent, no likelihood, and meaningless interpolation. The VAE fixes all three by going probabilistic.</a:t>
            </a:r>
            <a:endParaRPr lang="en-US" sz="1350" dirty="0"/>
          </a:p>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Prior z ∼ N(0,I); decoder p_φ(x|z); the intractable true posterior is approximated by an amortized encoder q_θ(z|x).</a:t>
            </a:r>
            <a:endParaRPr lang="en-US" sz="1350" dirty="0"/>
          </a:p>
          <a:p>
            <a:pPr marL="177800" indent="-177800">
              <a:spcAft>
                <a:spcPts val="800"/>
              </a:spcAft>
              <a:buSzPct val="100000"/>
              <a:buChar char="•"/>
            </a:pPr>
            <a:r>
              <a:rPr lang="en-US" sz="1350" dirty="0">
                <a:solidFill>
                  <a:srgbClr val="065A82"/>
                </a:solidFill>
                <a:latin typeface="Calibri" pitchFamily="34" charset="0"/>
                <a:ea typeface="Calibri" pitchFamily="34" charset="-122"/>
                <a:cs typeface="Calibri" pitchFamily="34" charset="-120"/>
              </a:rPr>
              <a:t>Maximize the ELBO: log p(x) ≥ E_q[log p(x|z)] − KL(q‖prior). The slack equals KL(q ‖ true posterior) ≥ 0.</a:t>
            </a:r>
            <a:endParaRPr lang="en-US" sz="1350" dirty="0"/>
          </a:p>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Reparameterize: z = μ + σ⊙ε, ε∼N(0,I) — randomness sits in ε, so gradients flow to θ.</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THE MODELS · VARIATIONAL AUTOENCODER (2/3)</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Deriving the ELBO — a bound that is also a posterior fit</a:t>
            </a:r>
            <a:endParaRPr lang="en-US" sz="2900" dirty="0"/>
          </a:p>
        </p:txBody>
      </p:sp>
      <p:sp>
        <p:nvSpPr>
          <p:cNvPr id="4" name="Shape 2"/>
          <p:cNvSpPr/>
          <p:nvPr/>
        </p:nvSpPr>
        <p:spPr>
          <a:xfrm>
            <a:off x="11057839" y="457200"/>
            <a:ext cx="566928" cy="566928"/>
          </a:xfrm>
          <a:prstGeom prst="ellipse">
            <a:avLst/>
          </a:prstGeom>
          <a:solidFill>
            <a:srgbClr val="065A82"/>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6" name="Text 4"/>
          <p:cNvSpPr/>
          <p:nvPr/>
        </p:nvSpPr>
        <p:spPr>
          <a:xfrm>
            <a:off x="566928" y="1627632"/>
            <a:ext cx="11064240" cy="320040"/>
          </a:xfrm>
          <a:prstGeom prst="rect">
            <a:avLst/>
          </a:prstGeom>
          <a:noFill/>
          <a:ln/>
        </p:spPr>
        <p:txBody>
          <a:bodyPr wrap="square" lIns="0" tIns="0" rIns="0" bIns="0" rtlCol="0" anchor="ctr"/>
          <a:lstStyle/>
          <a:p>
            <a:pPr indent="0" marL="0">
              <a:buNone/>
            </a:pPr>
            <a:r>
              <a:rPr lang="en-US" sz="1400" dirty="0">
                <a:solidFill>
                  <a:srgbClr val="44423E"/>
                </a:solidFill>
                <a:latin typeface="Calibri" pitchFamily="34" charset="0"/>
                <a:ea typeface="Calibri" pitchFamily="34" charset="-122"/>
                <a:cs typeface="Calibri" pitchFamily="34" charset="-120"/>
              </a:rPr>
              <a:t>Start from the intractable marginal likelihood and insert the encoder q. The log splits exactly:</a:t>
            </a:r>
            <a:endParaRPr lang="en-US" sz="1400" dirty="0"/>
          </a:p>
        </p:txBody>
      </p:sp>
      <p:pic>
        <p:nvPicPr>
          <p:cNvPr id="7" name="Image 0" descr="/home/claude/deck/../assets/eq_elbo_deriv.png">    </p:cNvPr>
          <p:cNvPicPr>
            <a:picLocks noChangeAspect="1"/>
          </p:cNvPicPr>
          <p:nvPr/>
        </p:nvPicPr>
        <p:blipFill>
          <a:blip r:embed="rId1"/>
          <a:stretch>
            <a:fillRect/>
          </a:stretch>
        </p:blipFill>
        <p:spPr>
          <a:xfrm>
            <a:off x="1549588" y="2011680"/>
            <a:ext cx="9098920" cy="1874520"/>
          </a:xfrm>
          <a:prstGeom prst="rect">
            <a:avLst/>
          </a:prstGeom>
        </p:spPr>
      </p:pic>
      <p:sp>
        <p:nvSpPr>
          <p:cNvPr id="8" name="Text 5"/>
          <p:cNvSpPr/>
          <p:nvPr/>
        </p:nvSpPr>
        <p:spPr>
          <a:xfrm>
            <a:off x="566928" y="4078224"/>
            <a:ext cx="5486400" cy="15544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Insert q and regroup: log p(x) = ELBO(θ,φ) + KL(q(z|x) ‖ true posterior) — an exact identity, no approximation yet.</a:t>
            </a:r>
            <a:endParaRPr lang="en-US" sz="1350" dirty="0"/>
          </a:p>
          <a:p>
            <a:pPr marL="177800" indent="-177800">
              <a:spcAft>
                <a:spcPts val="800"/>
              </a:spcAft>
              <a:buSzPct val="100000"/>
              <a:buChar char="•"/>
            </a:pPr>
            <a:r>
              <a:rPr lang="en-US" sz="1350" dirty="0">
                <a:solidFill>
                  <a:srgbClr val="065A82"/>
                </a:solidFill>
                <a:latin typeface="Calibri" pitchFamily="34" charset="0"/>
                <a:ea typeface="Calibri" pitchFamily="34" charset="-122"/>
                <a:cs typeface="Calibri" pitchFamily="34" charset="-120"/>
              </a:rPr>
              <a:t>That trailing KL is ≥ 0 and intractable. Drop it and you are left with a computable lower bound: the ELBO.</a:t>
            </a:r>
            <a:endParaRPr lang="en-US" sz="1350" dirty="0"/>
          </a:p>
        </p:txBody>
      </p:sp>
      <p:sp>
        <p:nvSpPr>
          <p:cNvPr id="9" name="Text 6"/>
          <p:cNvSpPr/>
          <p:nvPr/>
        </p:nvSpPr>
        <p:spPr>
          <a:xfrm>
            <a:off x="6400800" y="4078224"/>
            <a:ext cx="5303520" cy="155448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Maximizing the ELBO does double duty: it raises log p(x) AND shrinks KL(q ‖ posterior) — the encoder is trained to approximate the true posterior.</a:t>
            </a:r>
            <a:endParaRPr lang="en-US" sz="1350" dirty="0"/>
          </a:p>
          <a:p>
            <a:pPr marL="177800" indent="-177800">
              <a:spcAft>
                <a:spcPts val="800"/>
              </a:spcAft>
              <a:buSzPct val="100000"/>
              <a:buChar char="•"/>
            </a:pPr>
            <a:r>
              <a:rPr lang="en-US" sz="1350" dirty="0">
                <a:solidFill>
                  <a:srgbClr val="065A82"/>
                </a:solidFill>
                <a:latin typeface="Calibri" pitchFamily="34" charset="0"/>
                <a:ea typeface="Calibri" pitchFamily="34" charset="-122"/>
                <a:cs typeface="Calibri" pitchFamily="34" charset="-120"/>
              </a:rPr>
              <a:t>Usable form: ELBO = E_q[log p(x|z)] − KL(q ‖ prior) = reconstruction minus a pull to the prior. Tight iff q is the posterior.</a:t>
            </a:r>
            <a:endParaRPr lang="en-US" sz="1350" dirty="0"/>
          </a:p>
        </p:txBody>
      </p:sp>
      <p:sp>
        <p:nvSpPr>
          <p:cNvPr id="10" name="Shape 7"/>
          <p:cNvSpPr/>
          <p:nvPr/>
        </p:nvSpPr>
        <p:spPr>
          <a:xfrm>
            <a:off x="566928" y="5705856"/>
            <a:ext cx="11064240" cy="841248"/>
          </a:xfrm>
          <a:prstGeom prst="roundRect">
            <a:avLst>
              <a:gd name="adj" fmla="val 6522"/>
            </a:avLst>
          </a:prstGeom>
          <a:solidFill>
            <a:srgbClr val="F6F2E8"/>
          </a:solidFill>
          <a:ln/>
          <a:effectLst>
            <a:outerShdw sx="100000" sy="100000" kx="0" ky="0" algn="bl" rotWithShape="0" blurRad="63500" dist="38100" dir="5400000">
              <a:srgbClr val="000000">
                <a:alpha val="10000"/>
              </a:srgbClr>
            </a:outerShdw>
          </a:effectLst>
        </p:spPr>
      </p:sp>
      <p:sp>
        <p:nvSpPr>
          <p:cNvPr id="11" name="Shape 8"/>
          <p:cNvSpPr/>
          <p:nvPr/>
        </p:nvSpPr>
        <p:spPr>
          <a:xfrm>
            <a:off x="713232" y="5843016"/>
            <a:ext cx="727862" cy="274320"/>
          </a:xfrm>
          <a:prstGeom prst="roundRect">
            <a:avLst>
              <a:gd name="adj" fmla="val 13333"/>
            </a:avLst>
          </a:prstGeom>
          <a:solidFill>
            <a:srgbClr val="8A6F1F"/>
          </a:solidFill>
          <a:ln/>
        </p:spPr>
      </p:sp>
      <p:sp>
        <p:nvSpPr>
          <p:cNvPr id="12" name="Text 9"/>
          <p:cNvSpPr/>
          <p:nvPr/>
        </p:nvSpPr>
        <p:spPr>
          <a:xfrm>
            <a:off x="713232" y="5843016"/>
            <a:ext cx="727862"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IDEA</a:t>
            </a:r>
            <a:endParaRPr lang="en-US" sz="1050" dirty="0"/>
          </a:p>
        </p:txBody>
      </p:sp>
      <p:sp>
        <p:nvSpPr>
          <p:cNvPr id="13" name="Text 10"/>
          <p:cNvSpPr/>
          <p:nvPr/>
        </p:nvSpPr>
        <p:spPr>
          <a:xfrm>
            <a:off x="713232" y="6153912"/>
            <a:ext cx="10771632" cy="292608"/>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The ELBO is not an arbitrary loss: it is the unique decomposition whose slack equals the encoder's posterior error — so “tighten the bound” and “do better inference” are the same instruction.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THE MODELS · VARIATIONAL AUTOENCODER (3/3)</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The tug-of-war, posterior collapse, and the β knob</a:t>
            </a:r>
            <a:endParaRPr lang="en-US" sz="2900" dirty="0"/>
          </a:p>
        </p:txBody>
      </p:sp>
      <p:sp>
        <p:nvSpPr>
          <p:cNvPr id="4" name="Shape 2"/>
          <p:cNvSpPr/>
          <p:nvPr/>
        </p:nvSpPr>
        <p:spPr>
          <a:xfrm>
            <a:off x="11057839" y="457200"/>
            <a:ext cx="566928" cy="566928"/>
          </a:xfrm>
          <a:prstGeom prst="ellipse">
            <a:avLst/>
          </a:prstGeom>
          <a:solidFill>
            <a:srgbClr val="065A82"/>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6" name="Text 4"/>
          <p:cNvSpPr/>
          <p:nvPr/>
        </p:nvSpPr>
        <p:spPr>
          <a:xfrm>
            <a:off x="566928" y="1673352"/>
            <a:ext cx="5852160" cy="2286000"/>
          </a:xfrm>
          <a:prstGeom prst="rect">
            <a:avLst/>
          </a:prstGeom>
          <a:noFill/>
          <a:ln/>
        </p:spPr>
        <p:txBody>
          <a:bodyPr wrap="square" lIns="0" tIns="0" rIns="0" bIns="0" rtlCol="0" anchor="t"/>
          <a:lstStyle/>
          <a:p>
            <a:pPr marL="177800" indent="-177800">
              <a:spcAft>
                <a:spcPts val="900"/>
              </a:spcAft>
              <a:buSzPct val="100000"/>
              <a:buChar char="•"/>
            </a:pPr>
            <a:r>
              <a:rPr lang="en-US" sz="1450" dirty="0">
                <a:solidFill>
                  <a:srgbClr val="1A1A1A"/>
                </a:solidFill>
                <a:latin typeface="Calibri" pitchFamily="34" charset="0"/>
                <a:ea typeface="Calibri" pitchFamily="34" charset="-122"/>
                <a:cs typeface="Calibri" pitchFamily="34" charset="-120"/>
              </a:rPr>
              <a:t>Two terms pull apart: reconstruction wants q spiked on the exact z that rebuilds x; the KL pulls q toward the prior.</a:t>
            </a:r>
            <a:endParaRPr lang="en-US" sz="1450" dirty="0"/>
          </a:p>
          <a:p>
            <a:pPr marL="177800" indent="-177800">
              <a:spcAft>
                <a:spcPts val="900"/>
              </a:spcAft>
              <a:buSzPct val="100000"/>
              <a:buChar char="•"/>
            </a:pPr>
            <a:r>
              <a:rPr lang="en-US" sz="1450" dirty="0">
                <a:solidFill>
                  <a:srgbClr val="065A82"/>
                </a:solidFill>
                <a:latin typeface="Calibri" pitchFamily="34" charset="0"/>
                <a:ea typeface="Calibri" pitchFamily="34" charset="-122"/>
                <a:cs typeface="Calibri" pitchFamily="34" charset="-120"/>
              </a:rPr>
              <a:t>Equilibrium → a smooth, densely-packed latent you can sample and interpolate. Gaussian KL = ½∑(μ²+σ²−logσ²−1).</a:t>
            </a:r>
            <a:endParaRPr lang="en-US" sz="1450" dirty="0"/>
          </a:p>
          <a:p>
            <a:pPr marL="177800" indent="-177800">
              <a:spcAft>
                <a:spcPts val="900"/>
              </a:spcAft>
              <a:buSzPct val="100000"/>
              <a:buChar char="•"/>
            </a:pPr>
            <a:r>
              <a:rPr lang="en-US" sz="1450" dirty="0">
                <a:solidFill>
                  <a:srgbClr val="1A1A1A"/>
                </a:solidFill>
                <a:latin typeface="Calibri" pitchFamily="34" charset="0"/>
                <a:ea typeface="Calibri" pitchFamily="34" charset="-122"/>
                <a:cs typeface="Calibri" pitchFamily="34" charset="-120"/>
              </a:rPr>
              <a:t>β-VAE: scale the KL by β. β&gt;1 ⇒ more disentangled but blurrier; β&lt;1 ⇒ sharper but holey. β is the compression / rate knob.</a:t>
            </a:r>
            <a:endParaRPr lang="en-US" sz="1450" dirty="0"/>
          </a:p>
        </p:txBody>
      </p:sp>
      <p:pic>
        <p:nvPicPr>
          <p:cNvPr id="7" name="Image 0" descr="/home/claude/deck/../assets/eq_betavae.png">    </p:cNvPr>
          <p:cNvPicPr>
            <a:picLocks noChangeAspect="1"/>
          </p:cNvPicPr>
          <p:nvPr/>
        </p:nvPicPr>
        <p:blipFill>
          <a:blip r:embed="rId1"/>
          <a:stretch>
            <a:fillRect/>
          </a:stretch>
        </p:blipFill>
        <p:spPr>
          <a:xfrm>
            <a:off x="1003627" y="4005072"/>
            <a:ext cx="4795882" cy="621792"/>
          </a:xfrm>
          <a:prstGeom prst="rect">
            <a:avLst/>
          </a:prstGeom>
        </p:spPr>
      </p:pic>
      <p:sp>
        <p:nvSpPr>
          <p:cNvPr id="8" name="Shape 5"/>
          <p:cNvSpPr/>
          <p:nvPr/>
        </p:nvSpPr>
        <p:spPr>
          <a:xfrm>
            <a:off x="566928" y="5010912"/>
            <a:ext cx="5669280" cy="0"/>
          </a:xfrm>
          <a:prstGeom prst="line">
            <a:avLst/>
          </a:prstGeom>
          <a:noFill/>
          <a:ln w="38100">
            <a:solidFill>
              <a:srgbClr val="C9C0B6"/>
            </a:solidFill>
            <a:prstDash val="solid"/>
          </a:ln>
        </p:spPr>
      </p:sp>
      <p:sp>
        <p:nvSpPr>
          <p:cNvPr id="9" name="Shape 6"/>
          <p:cNvSpPr/>
          <p:nvPr/>
        </p:nvSpPr>
        <p:spPr>
          <a:xfrm>
            <a:off x="3310128" y="4919472"/>
            <a:ext cx="182880" cy="182880"/>
          </a:xfrm>
          <a:prstGeom prst="ellipse">
            <a:avLst/>
          </a:prstGeom>
          <a:solidFill>
            <a:srgbClr val="B85042"/>
          </a:solidFill>
          <a:ln/>
        </p:spPr>
      </p:sp>
      <p:sp>
        <p:nvSpPr>
          <p:cNvPr id="10" name="Text 7"/>
          <p:cNvSpPr/>
          <p:nvPr/>
        </p:nvSpPr>
        <p:spPr>
          <a:xfrm>
            <a:off x="475488" y="5120640"/>
            <a:ext cx="2468880" cy="274320"/>
          </a:xfrm>
          <a:prstGeom prst="rect">
            <a:avLst/>
          </a:prstGeom>
          <a:noFill/>
          <a:ln/>
        </p:spPr>
        <p:txBody>
          <a:bodyPr wrap="square" lIns="0" tIns="0" rIns="0" bIns="0" rtlCol="0" anchor="ctr"/>
          <a:lstStyle/>
          <a:p>
            <a:pPr algn="l" indent="0" marL="0">
              <a:buNone/>
            </a:pPr>
            <a:r>
              <a:rPr lang="en-US" sz="1100" i="1" dirty="0">
                <a:solidFill>
                  <a:srgbClr val="6E6358"/>
                </a:solidFill>
                <a:latin typeface="Calibri" pitchFamily="34" charset="0"/>
                <a:ea typeface="Calibri" pitchFamily="34" charset="-122"/>
                <a:cs typeface="Calibri" pitchFamily="34" charset="-120"/>
              </a:rPr>
              <a:t>small β — sharp, holey</a:t>
            </a:r>
            <a:endParaRPr lang="en-US" sz="1100" dirty="0"/>
          </a:p>
        </p:txBody>
      </p:sp>
      <p:sp>
        <p:nvSpPr>
          <p:cNvPr id="11" name="Text 8"/>
          <p:cNvSpPr/>
          <p:nvPr/>
        </p:nvSpPr>
        <p:spPr>
          <a:xfrm>
            <a:off x="3035808" y="5120640"/>
            <a:ext cx="3291840" cy="274320"/>
          </a:xfrm>
          <a:prstGeom prst="rect">
            <a:avLst/>
          </a:prstGeom>
          <a:noFill/>
          <a:ln/>
        </p:spPr>
        <p:txBody>
          <a:bodyPr wrap="square" lIns="0" tIns="0" rIns="0" bIns="0" rtlCol="0" anchor="ctr"/>
          <a:lstStyle/>
          <a:p>
            <a:pPr algn="r" indent="0" marL="0">
              <a:buNone/>
            </a:pPr>
            <a:r>
              <a:rPr lang="en-US" sz="1100" i="1" dirty="0">
                <a:solidFill>
                  <a:srgbClr val="6E6358"/>
                </a:solidFill>
                <a:latin typeface="Calibri" pitchFamily="34" charset="0"/>
                <a:ea typeface="Calibri" pitchFamily="34" charset="-122"/>
                <a:cs typeface="Calibri" pitchFamily="34" charset="-120"/>
              </a:rPr>
              <a:t>large β — smooth, disentangled, blurry</a:t>
            </a:r>
            <a:endParaRPr lang="en-US" sz="1100" dirty="0"/>
          </a:p>
        </p:txBody>
      </p:sp>
      <p:sp>
        <p:nvSpPr>
          <p:cNvPr id="12" name="Text 9"/>
          <p:cNvSpPr/>
          <p:nvPr/>
        </p:nvSpPr>
        <p:spPr>
          <a:xfrm>
            <a:off x="3264408" y="4599432"/>
            <a:ext cx="274320" cy="228600"/>
          </a:xfrm>
          <a:prstGeom prst="rect">
            <a:avLst/>
          </a:prstGeom>
          <a:noFill/>
          <a:ln/>
        </p:spPr>
        <p:txBody>
          <a:bodyPr wrap="square" lIns="0" tIns="0" rIns="0" bIns="0" rtlCol="0" anchor="ctr"/>
          <a:lstStyle/>
          <a:p>
            <a:pPr algn="ctr" indent="0" marL="0">
              <a:buNone/>
            </a:pPr>
            <a:r>
              <a:rPr lang="en-US" sz="1300" b="1" dirty="0">
                <a:solidFill>
                  <a:srgbClr val="B85042"/>
                </a:solidFill>
                <a:latin typeface="Calibri" pitchFamily="34" charset="0"/>
                <a:ea typeface="Calibri" pitchFamily="34" charset="-122"/>
                <a:cs typeface="Calibri" pitchFamily="34" charset="-120"/>
              </a:rPr>
              <a:t>β</a:t>
            </a:r>
            <a:endParaRPr lang="en-US" sz="1300" dirty="0"/>
          </a:p>
        </p:txBody>
      </p:sp>
      <p:sp>
        <p:nvSpPr>
          <p:cNvPr id="13" name="Shape 10"/>
          <p:cNvSpPr/>
          <p:nvPr/>
        </p:nvSpPr>
        <p:spPr>
          <a:xfrm>
            <a:off x="6400800" y="1719072"/>
            <a:ext cx="5303520" cy="1600200"/>
          </a:xfrm>
          <a:prstGeom prst="roundRect">
            <a:avLst>
              <a:gd name="adj" fmla="val 3429"/>
            </a:avLst>
          </a:prstGeom>
          <a:solidFill>
            <a:srgbClr val="F7EFEE"/>
          </a:solidFill>
          <a:ln/>
          <a:effectLst>
            <a:outerShdw sx="100000" sy="100000" kx="0" ky="0" algn="bl" rotWithShape="0" blurRad="63500" dist="38100" dir="5400000">
              <a:srgbClr val="000000">
                <a:alpha val="10000"/>
              </a:srgbClr>
            </a:outerShdw>
          </a:effectLst>
        </p:spPr>
      </p:sp>
      <p:sp>
        <p:nvSpPr>
          <p:cNvPr id="14" name="Shape 11"/>
          <p:cNvSpPr/>
          <p:nvPr/>
        </p:nvSpPr>
        <p:spPr>
          <a:xfrm>
            <a:off x="6547104" y="1856232"/>
            <a:ext cx="577901" cy="274320"/>
          </a:xfrm>
          <a:prstGeom prst="roundRect">
            <a:avLst>
              <a:gd name="adj" fmla="val 13333"/>
            </a:avLst>
          </a:prstGeom>
          <a:solidFill>
            <a:srgbClr val="B85042"/>
          </a:solidFill>
          <a:ln/>
        </p:spPr>
      </p:sp>
      <p:sp>
        <p:nvSpPr>
          <p:cNvPr id="15" name="Text 12"/>
          <p:cNvSpPr/>
          <p:nvPr/>
        </p:nvSpPr>
        <p:spPr>
          <a:xfrm>
            <a:off x="6547104" y="1856232"/>
            <a:ext cx="577901"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GOTCHA</a:t>
            </a:r>
            <a:endParaRPr lang="en-US" sz="1050" dirty="0"/>
          </a:p>
        </p:txBody>
      </p:sp>
      <p:sp>
        <p:nvSpPr>
          <p:cNvPr id="16" name="Text 13"/>
          <p:cNvSpPr/>
          <p:nvPr/>
        </p:nvSpPr>
        <p:spPr>
          <a:xfrm>
            <a:off x="6547104" y="2167128"/>
            <a:ext cx="5010912" cy="105156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Posterior collapse: if the decoder is powerful enough, the cheapest way to pay the KL is q(z|x) ≈ prior for every x — the latent is ignored entirely and the model degenerates to an unconditional decoder. Fixes: KL warm-up (anneal its weight) or “free bits” (a per-dimension KL floor).</a:t>
            </a:r>
            <a:endParaRPr lang="en-US" sz="1200" dirty="0"/>
          </a:p>
        </p:txBody>
      </p:sp>
      <p:sp>
        <p:nvSpPr>
          <p:cNvPr id="17" name="Shape 14"/>
          <p:cNvSpPr/>
          <p:nvPr/>
        </p:nvSpPr>
        <p:spPr>
          <a:xfrm>
            <a:off x="6400800" y="3502152"/>
            <a:ext cx="5303520" cy="1508760"/>
          </a:xfrm>
          <a:prstGeom prst="roundRect">
            <a:avLst>
              <a:gd name="adj" fmla="val 3636"/>
            </a:avLst>
          </a:prstGeom>
          <a:solidFill>
            <a:srgbClr val="F6F2E8"/>
          </a:solidFill>
          <a:ln/>
          <a:effectLst>
            <a:outerShdw sx="100000" sy="100000" kx="0" ky="0" algn="bl" rotWithShape="0" blurRad="63500" dist="38100" dir="5400000">
              <a:srgbClr val="000000">
                <a:alpha val="10000"/>
              </a:srgbClr>
            </a:outerShdw>
          </a:effectLst>
        </p:spPr>
      </p:sp>
      <p:sp>
        <p:nvSpPr>
          <p:cNvPr id="18" name="Shape 15"/>
          <p:cNvSpPr/>
          <p:nvPr/>
        </p:nvSpPr>
        <p:spPr>
          <a:xfrm>
            <a:off x="6547104" y="3639312"/>
            <a:ext cx="727862" cy="274320"/>
          </a:xfrm>
          <a:prstGeom prst="roundRect">
            <a:avLst>
              <a:gd name="adj" fmla="val 13333"/>
            </a:avLst>
          </a:prstGeom>
          <a:solidFill>
            <a:srgbClr val="8A6F1F"/>
          </a:solidFill>
          <a:ln/>
        </p:spPr>
      </p:sp>
      <p:sp>
        <p:nvSpPr>
          <p:cNvPr id="19" name="Text 16"/>
          <p:cNvSpPr/>
          <p:nvPr/>
        </p:nvSpPr>
        <p:spPr>
          <a:xfrm>
            <a:off x="6547104" y="3639312"/>
            <a:ext cx="727862"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KEY IDEA</a:t>
            </a:r>
            <a:endParaRPr lang="en-US" sz="1050" dirty="0"/>
          </a:p>
        </p:txBody>
      </p:sp>
      <p:sp>
        <p:nvSpPr>
          <p:cNvPr id="20" name="Text 17"/>
          <p:cNvSpPr/>
          <p:nvPr/>
        </p:nvSpPr>
        <p:spPr>
          <a:xfrm>
            <a:off x="6547104" y="3950208"/>
            <a:ext cx="5010912" cy="96012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What you get: a continuous latent that is dense (sample anywhere) and smooth (interpolate meaningfully). That single property is what every generative use in the sciences — simulating spectra, deblending galaxies — is built 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2733"/>
        </a:solidFill>
      </p:bgPr>
    </p:bg>
    <p:spTree>
      <p:nvGrpSpPr>
        <p:cNvPr id="1" name=""/>
        <p:cNvGrpSpPr/>
        <p:nvPr/>
      </p:nvGrpSpPr>
      <p:grpSpPr>
        <a:xfrm>
          <a:off x="0" y="0"/>
          <a:ext cx="0" cy="0"/>
          <a:chOff x="0" y="0"/>
          <a:chExt cx="0" cy="0"/>
        </a:xfrm>
      </p:grpSpPr>
      <p:sp>
        <p:nvSpPr>
          <p:cNvPr id="2" name="Shape 0"/>
          <p:cNvSpPr/>
          <p:nvPr/>
        </p:nvSpPr>
        <p:spPr>
          <a:xfrm>
            <a:off x="8503920" y="-1097280"/>
            <a:ext cx="5120640" cy="5120640"/>
          </a:xfrm>
          <a:prstGeom prst="ellipse">
            <a:avLst/>
          </a:prstGeom>
          <a:solidFill>
            <a:srgbClr val="16323F"/>
          </a:solidFill>
          <a:ln w="12700">
            <a:solidFill>
              <a:srgbClr val="27485A"/>
            </a:solidFill>
            <a:prstDash val="solid"/>
          </a:ln>
        </p:spPr>
      </p:sp>
      <p:sp>
        <p:nvSpPr>
          <p:cNvPr id="3" name="Text 1"/>
          <p:cNvSpPr/>
          <p:nvPr/>
        </p:nvSpPr>
        <p:spPr>
          <a:xfrm>
            <a:off x="566928" y="1874520"/>
            <a:ext cx="7315200" cy="457200"/>
          </a:xfrm>
          <a:prstGeom prst="rect">
            <a:avLst/>
          </a:prstGeom>
          <a:noFill/>
          <a:ln/>
        </p:spPr>
        <p:txBody>
          <a:bodyPr wrap="square" lIns="0" tIns="0" rIns="0" bIns="0" rtlCol="0" anchor="ctr"/>
          <a:lstStyle/>
          <a:p>
            <a:pPr indent="0" marL="0">
              <a:buNone/>
            </a:pPr>
            <a:r>
              <a:rPr lang="en-US" sz="1500" b="1" spc="400" kern="0" dirty="0">
                <a:solidFill>
                  <a:srgbClr val="5FB0A6"/>
                </a:solidFill>
                <a:latin typeface="Calibri" pitchFamily="34" charset="0"/>
                <a:ea typeface="Calibri" pitchFamily="34" charset="-122"/>
                <a:cs typeface="Calibri" pitchFamily="34" charset="-120"/>
              </a:rPr>
              <a:t>PART II</a:t>
            </a:r>
            <a:endParaRPr lang="en-US" sz="1500" dirty="0"/>
          </a:p>
        </p:txBody>
      </p:sp>
      <p:sp>
        <p:nvSpPr>
          <p:cNvPr id="4" name="Text 2"/>
          <p:cNvSpPr/>
          <p:nvPr/>
        </p:nvSpPr>
        <p:spPr>
          <a:xfrm>
            <a:off x="548640" y="2286000"/>
            <a:ext cx="9509760" cy="146304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In the sciences</a:t>
            </a:r>
            <a:endParaRPr lang="en-US" sz="4200" dirty="0"/>
          </a:p>
        </p:txBody>
      </p:sp>
      <p:sp>
        <p:nvSpPr>
          <p:cNvPr id="5" name="Text 3"/>
          <p:cNvSpPr/>
          <p:nvPr/>
        </p:nvSpPr>
        <p:spPr>
          <a:xfrm>
            <a:off x="566928" y="4023360"/>
            <a:ext cx="9509760" cy="640080"/>
          </a:xfrm>
          <a:prstGeom prst="rect">
            <a:avLst/>
          </a:prstGeom>
          <a:noFill/>
          <a:ln/>
        </p:spPr>
        <p:txBody>
          <a:bodyPr wrap="square" lIns="0" tIns="0" rIns="0" bIns="0" rtlCol="0" anchor="ctr"/>
          <a:lstStyle/>
          <a:p>
            <a:pPr indent="0" marL="0">
              <a:buNone/>
            </a:pPr>
            <a:r>
              <a:rPr lang="en-US" sz="1900" i="1" dirty="0">
                <a:solidFill>
                  <a:srgbClr val="C8D8DE"/>
                </a:solidFill>
                <a:latin typeface="Cambria" pitchFamily="34" charset="0"/>
                <a:ea typeface="Cambria" pitchFamily="34" charset="-122"/>
                <a:cs typeface="Cambria" pitchFamily="34" charset="-120"/>
              </a:rPr>
              <a:t>Three deep dives in astrophysics, one in particle physics — “off-manifold = interesting.”</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1C5D63"/>
                </a:solidFill>
                <a:latin typeface="Calibri" pitchFamily="34" charset="0"/>
                <a:ea typeface="Calibri" pitchFamily="34" charset="-122"/>
                <a:cs typeface="Calibri" pitchFamily="34" charset="-120"/>
              </a:rPr>
              <a:t>ASTROPHYSICS · DEEP DIVE ①</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Compressing galaxy spectra</a:t>
            </a:r>
            <a:endParaRPr lang="en-US" sz="2900" dirty="0"/>
          </a:p>
        </p:txBody>
      </p:sp>
      <p:sp>
        <p:nvSpPr>
          <p:cNvPr id="4" name="Shape 2"/>
          <p:cNvSpPr/>
          <p:nvPr/>
        </p:nvSpPr>
        <p:spPr>
          <a:xfrm>
            <a:off x="11057839" y="457200"/>
            <a:ext cx="566928" cy="566928"/>
          </a:xfrm>
          <a:prstGeom prst="ellipse">
            <a:avLst/>
          </a:prstGeom>
          <a:solidFill>
            <a:srgbClr val="1C5D63"/>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pic>
        <p:nvPicPr>
          <p:cNvPr id="6" name="Image 0" descr="/home/claude/deck/../assets/m_spectra.png">    </p:cNvPr>
          <p:cNvPicPr>
            <a:picLocks noChangeAspect="1"/>
          </p:cNvPicPr>
          <p:nvPr/>
        </p:nvPicPr>
        <p:blipFill>
          <a:blip r:embed="rId1"/>
          <a:stretch>
            <a:fillRect/>
          </a:stretch>
        </p:blipFill>
        <p:spPr>
          <a:xfrm>
            <a:off x="6858000" y="1809144"/>
            <a:ext cx="4846320" cy="3294575"/>
          </a:xfrm>
          <a:prstGeom prst="rect">
            <a:avLst/>
          </a:prstGeom>
        </p:spPr>
      </p:pic>
      <p:sp>
        <p:nvSpPr>
          <p:cNvPr id="7" name="Text 4"/>
          <p:cNvSpPr/>
          <p:nvPr/>
        </p:nvSpPr>
        <p:spPr>
          <a:xfrm>
            <a:off x="6858000" y="5193792"/>
            <a:ext cx="4846320" cy="365760"/>
          </a:xfrm>
          <a:prstGeom prst="rect">
            <a:avLst/>
          </a:prstGeom>
          <a:noFill/>
          <a:ln/>
        </p:spPr>
        <p:txBody>
          <a:bodyPr wrap="square" lIns="0" tIns="0" rIns="0" bIns="0" rtlCol="0" anchor="ctr"/>
          <a:lstStyle/>
          <a:p>
            <a:pPr algn="ctr" indent="0" marL="0">
              <a:buNone/>
            </a:pPr>
            <a:r>
              <a:rPr lang="en-US" sz="1050" i="1" dirty="0">
                <a:solidFill>
                  <a:srgbClr val="6E6358"/>
                </a:solidFill>
                <a:latin typeface="Calibri" pitchFamily="34" charset="0"/>
                <a:ea typeface="Calibri" pitchFamily="34" charset="-122"/>
                <a:cs typeface="Calibri" pitchFamily="34" charset="-120"/>
              </a:rPr>
              <a:t>A 6-D latent: classes self-organize; paths interpolate; outliers fall in voids.</a:t>
            </a:r>
            <a:endParaRPr lang="en-US" sz="1050" dirty="0"/>
          </a:p>
        </p:txBody>
      </p:sp>
      <p:sp>
        <p:nvSpPr>
          <p:cNvPr id="8" name="Text 5"/>
          <p:cNvSpPr/>
          <p:nvPr/>
        </p:nvSpPr>
        <p:spPr>
          <a:xfrm>
            <a:off x="566928" y="1764792"/>
            <a:ext cx="6035040" cy="283464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A galaxy spectrum is ~4000 flux values, but the physics has only a handful of degrees of freedom.</a:t>
            </a:r>
            <a:endParaRPr lang="en-US" sz="1350" dirty="0"/>
          </a:p>
          <a:p>
            <a:pPr marL="177800" indent="-177800">
              <a:spcAft>
                <a:spcPts val="800"/>
              </a:spcAft>
              <a:buSzPct val="100000"/>
              <a:buChar char="•"/>
            </a:pPr>
            <a:r>
              <a:rPr lang="en-US" sz="1350" dirty="0">
                <a:solidFill>
                  <a:srgbClr val="1C5D63"/>
                </a:solidFill>
                <a:latin typeface="Calibri" pitchFamily="34" charset="0"/>
                <a:ea typeface="Calibri" pitchFamily="34" charset="-122"/>
                <a:cs typeface="Calibri" pitchFamily="34" charset="-120"/>
              </a:rPr>
              <a:t>spender (Melchior et al. 2023) autoencodes SDSS spectra; the encoder decodes in the rest frame and shifts to the observed redshift, so z̄ is not wasted on redshift. Six latents beat PCA at the same count (cf. Portillo 2020).</a:t>
            </a:r>
            <a:endParaRPr lang="en-US" sz="1350" dirty="0"/>
          </a:p>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The latent self-organizes with no labels: star-forming ↔ quiescent ↔ AGN separate; smooth paths are physical morphs; artifacts land in empty regions.</a:t>
            </a:r>
            <a:endParaRPr lang="en-US" sz="1350" dirty="0"/>
          </a:p>
        </p:txBody>
      </p:sp>
      <p:sp>
        <p:nvSpPr>
          <p:cNvPr id="9" name="Shape 6"/>
          <p:cNvSpPr/>
          <p:nvPr/>
        </p:nvSpPr>
        <p:spPr>
          <a:xfrm>
            <a:off x="566928" y="4645152"/>
            <a:ext cx="6035040" cy="1097280"/>
          </a:xfrm>
          <a:prstGeom prst="roundRect">
            <a:avLst>
              <a:gd name="adj" fmla="val 5000"/>
            </a:avLst>
          </a:prstGeom>
          <a:solidFill>
            <a:srgbClr val="EEF3F2"/>
          </a:solidFill>
          <a:ln/>
          <a:effectLst>
            <a:outerShdw sx="100000" sy="100000" kx="0" ky="0" algn="bl" rotWithShape="0" blurRad="63500" dist="38100" dir="5400000">
              <a:srgbClr val="000000">
                <a:alpha val="10000"/>
              </a:srgbClr>
            </a:outerShdw>
          </a:effectLst>
        </p:spPr>
      </p:sp>
      <p:sp>
        <p:nvSpPr>
          <p:cNvPr id="10" name="Shape 7"/>
          <p:cNvSpPr/>
          <p:nvPr/>
        </p:nvSpPr>
        <p:spPr>
          <a:xfrm>
            <a:off x="713232" y="4782312"/>
            <a:ext cx="652882" cy="274320"/>
          </a:xfrm>
          <a:prstGeom prst="roundRect">
            <a:avLst>
              <a:gd name="adj" fmla="val 13333"/>
            </a:avLst>
          </a:prstGeom>
          <a:solidFill>
            <a:srgbClr val="1C5D63"/>
          </a:solidFill>
          <a:ln/>
        </p:spPr>
      </p:sp>
      <p:sp>
        <p:nvSpPr>
          <p:cNvPr id="11" name="Text 8"/>
          <p:cNvSpPr/>
          <p:nvPr/>
        </p:nvSpPr>
        <p:spPr>
          <a:xfrm>
            <a:off x="713232" y="4782312"/>
            <a:ext cx="652882"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SCIENCE</a:t>
            </a:r>
            <a:endParaRPr lang="en-US" sz="1050" dirty="0"/>
          </a:p>
        </p:txBody>
      </p:sp>
      <p:sp>
        <p:nvSpPr>
          <p:cNvPr id="12" name="Text 9"/>
          <p:cNvSpPr/>
          <p:nvPr/>
        </p:nvSpPr>
        <p:spPr>
          <a:xfrm>
            <a:off x="713232" y="5093208"/>
            <a:ext cx="5742432" cy="54864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One trained network behaves as four instruments at once: unsupervised structure · meaningful interpolation · outlier detection · a generative spectrum simulator. That bundling is why autoencoders spread through observational astronomy.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1C5D63"/>
                </a:solidFill>
                <a:latin typeface="Calibri" pitchFamily="34" charset="0"/>
                <a:ea typeface="Calibri" pitchFamily="34" charset="-122"/>
                <a:cs typeface="Calibri" pitchFamily="34" charset="-120"/>
              </a:rPr>
              <a:t>ASTROPHYSICS · PAPER IN DETAIL</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spender — autoencoding galaxy spectra (I)</a:t>
            </a:r>
            <a:endParaRPr lang="en-US" sz="2900" dirty="0"/>
          </a:p>
        </p:txBody>
      </p:sp>
      <p:sp>
        <p:nvSpPr>
          <p:cNvPr id="4" name="Shape 2"/>
          <p:cNvSpPr/>
          <p:nvPr/>
        </p:nvSpPr>
        <p:spPr>
          <a:xfrm>
            <a:off x="11057839" y="457200"/>
            <a:ext cx="566928" cy="566928"/>
          </a:xfrm>
          <a:prstGeom prst="ellipse">
            <a:avLst/>
          </a:prstGeom>
          <a:solidFill>
            <a:srgbClr val="1C5D63"/>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6" name="Text 4"/>
          <p:cNvSpPr/>
          <p:nvPr/>
        </p:nvSpPr>
        <p:spPr>
          <a:xfrm>
            <a:off x="566928" y="1609344"/>
            <a:ext cx="11057839" cy="292608"/>
          </a:xfrm>
          <a:prstGeom prst="rect">
            <a:avLst/>
          </a:prstGeom>
          <a:noFill/>
          <a:ln/>
        </p:spPr>
        <p:txBody>
          <a:bodyPr wrap="square" lIns="0" tIns="0" rIns="0" bIns="0" rtlCol="0" anchor="ctr"/>
          <a:lstStyle/>
          <a:p>
            <a:pPr indent="0" marL="0">
              <a:buNone/>
            </a:pPr>
            <a:r>
              <a:rPr lang="en-US" sz="1150" i="1" dirty="0">
                <a:solidFill>
                  <a:srgbClr val="6E6358"/>
                </a:solidFill>
                <a:latin typeface="Calibri" pitchFamily="34" charset="0"/>
                <a:ea typeface="Calibri" pitchFamily="34" charset="-122"/>
                <a:cs typeface="Calibri" pitchFamily="34" charset="-120"/>
              </a:rPr>
              <a:t>Melchior, Liang, Hahn &amp; Goulding · The Astronomical Journal 166:74 (2023) · arXiv:2211.07890</a:t>
            </a:r>
            <a:endParaRPr lang="en-US" sz="1150" dirty="0"/>
          </a:p>
        </p:txBody>
      </p:sp>
      <p:pic>
        <p:nvPicPr>
          <p:cNvPr id="7" name="Image 0" descr="/home/claude/deck/../assets/p_spender.png">    </p:cNvPr>
          <p:cNvPicPr>
            <a:picLocks noChangeAspect="1"/>
          </p:cNvPicPr>
          <p:nvPr/>
        </p:nvPicPr>
        <p:blipFill>
          <a:blip r:embed="rId1"/>
          <a:stretch>
            <a:fillRect/>
          </a:stretch>
        </p:blipFill>
        <p:spPr>
          <a:xfrm>
            <a:off x="566928" y="2086920"/>
            <a:ext cx="5623560" cy="3690000"/>
          </a:xfrm>
          <a:prstGeom prst="rect">
            <a:avLst/>
          </a:prstGeom>
        </p:spPr>
      </p:pic>
      <p:sp>
        <p:nvSpPr>
          <p:cNvPr id="8" name="Text 5"/>
          <p:cNvSpPr/>
          <p:nvPr/>
        </p:nvSpPr>
        <p:spPr>
          <a:xfrm>
            <a:off x="6483096" y="2029968"/>
            <a:ext cx="5141671" cy="320040"/>
          </a:xfrm>
          <a:prstGeom prst="rect">
            <a:avLst/>
          </a:prstGeom>
          <a:noFill/>
          <a:ln/>
        </p:spPr>
        <p:txBody>
          <a:bodyPr wrap="square" lIns="0" tIns="0" rIns="0" bIns="0" rtlCol="0" anchor="ctr"/>
          <a:lstStyle/>
          <a:p>
            <a:pPr indent="0" marL="0">
              <a:buNone/>
            </a:pPr>
            <a:r>
              <a:rPr lang="en-US" sz="1500" b="1" dirty="0">
                <a:solidFill>
                  <a:srgbClr val="1C5D63"/>
                </a:solidFill>
                <a:latin typeface="Cambria" pitchFamily="34" charset="0"/>
                <a:ea typeface="Cambria" pitchFamily="34" charset="-122"/>
                <a:cs typeface="Cambria" pitchFamily="34" charset="-120"/>
              </a:rPr>
              <a:t>What the paper shows</a:t>
            </a:r>
            <a:endParaRPr lang="en-US" sz="1500" dirty="0"/>
          </a:p>
        </p:txBody>
      </p:sp>
      <p:sp>
        <p:nvSpPr>
          <p:cNvPr id="9" name="Text 6"/>
          <p:cNvSpPr/>
          <p:nvPr/>
        </p:nvSpPr>
        <p:spPr>
          <a:xfrm>
            <a:off x="6483096" y="2468880"/>
            <a:ext cx="5141671" cy="233172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Accurate reconstructions with substantially reduced noise — the AE acts as a denoiser.</a:t>
            </a:r>
            <a:endParaRPr lang="en-US" sz="1250" dirty="0"/>
          </a:p>
          <a:p>
            <a:pPr marL="177800" indent="-1778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Deconvolution + oversampling give a super-resolution model that resolves the [O II] doublet.</a:t>
            </a:r>
            <a:endParaRPr lang="en-US" sz="1250" dirty="0"/>
          </a:p>
          <a:p>
            <a:pPr marL="177800" indent="-1778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Attention weights double as a map of which spectral features matter.</a:t>
            </a:r>
            <a:endParaRPr lang="en-US" sz="1250" dirty="0"/>
          </a:p>
          <a:p>
            <a:pPr marL="177800" indent="-1778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Six latents capture the main physical degrees of freedom — beating PCA at the same count (Portillo 2020).</a:t>
            </a:r>
            <a:endParaRPr lang="en-US" sz="1250" dirty="0"/>
          </a:p>
        </p:txBody>
      </p:sp>
      <p:sp>
        <p:nvSpPr>
          <p:cNvPr id="10" name="Shape 7"/>
          <p:cNvSpPr/>
          <p:nvPr/>
        </p:nvSpPr>
        <p:spPr>
          <a:xfrm>
            <a:off x="6483096" y="4892040"/>
            <a:ext cx="5141671" cy="914400"/>
          </a:xfrm>
          <a:prstGeom prst="roundRect">
            <a:avLst>
              <a:gd name="adj" fmla="val 6000"/>
            </a:avLst>
          </a:prstGeom>
          <a:solidFill>
            <a:srgbClr val="EEF3F2"/>
          </a:solidFill>
          <a:ln/>
          <a:effectLst>
            <a:outerShdw sx="100000" sy="100000" kx="0" ky="0" algn="bl" rotWithShape="0" blurRad="63500" dist="38100" dir="5400000">
              <a:srgbClr val="000000">
                <a:alpha val="10000"/>
              </a:srgbClr>
            </a:outerShdw>
          </a:effectLst>
        </p:spPr>
      </p:sp>
      <p:sp>
        <p:nvSpPr>
          <p:cNvPr id="11" name="Text 8"/>
          <p:cNvSpPr/>
          <p:nvPr/>
        </p:nvSpPr>
        <p:spPr>
          <a:xfrm>
            <a:off x="6665976" y="4928616"/>
            <a:ext cx="4775911" cy="530352"/>
          </a:xfrm>
          <a:prstGeom prst="rect">
            <a:avLst/>
          </a:prstGeom>
          <a:noFill/>
          <a:ln/>
        </p:spPr>
        <p:txBody>
          <a:bodyPr wrap="square" lIns="0" tIns="0" rIns="0" bIns="0" rtlCol="0" anchor="ctr"/>
          <a:lstStyle/>
          <a:p>
            <a:pPr algn="l" indent="0" marL="0">
              <a:buNone/>
            </a:pPr>
            <a:r>
              <a:rPr lang="en-US" sz="3600" b="1" dirty="0">
                <a:solidFill>
                  <a:srgbClr val="1C5D63"/>
                </a:solidFill>
                <a:latin typeface="Cambria" pitchFamily="34" charset="0"/>
                <a:ea typeface="Cambria" pitchFamily="34" charset="-122"/>
                <a:cs typeface="Cambria" pitchFamily="34" charset="-120"/>
              </a:rPr>
              <a:t>S = 6</a:t>
            </a:r>
            <a:endParaRPr lang="en-US" sz="3600" dirty="0"/>
          </a:p>
        </p:txBody>
      </p:sp>
      <p:sp>
        <p:nvSpPr>
          <p:cNvPr id="12" name="Text 9"/>
          <p:cNvSpPr/>
          <p:nvPr/>
        </p:nvSpPr>
        <p:spPr>
          <a:xfrm>
            <a:off x="6684264" y="5458968"/>
            <a:ext cx="4775911" cy="310896"/>
          </a:xfrm>
          <a:prstGeom prst="rect">
            <a:avLst/>
          </a:prstGeom>
          <a:noFill/>
          <a:ln/>
        </p:spPr>
        <p:txBody>
          <a:bodyPr wrap="square" lIns="0" tIns="0" rIns="0" bIns="0" rtlCol="0" anchor="t"/>
          <a:lstStyle/>
          <a:p>
            <a:pPr algn="l" indent="0" marL="0">
              <a:lnSpc>
                <a:spcPct val="95000"/>
              </a:lnSpc>
              <a:buNone/>
            </a:pPr>
            <a:r>
              <a:rPr lang="en-US" sz="1050" i="1" dirty="0">
                <a:solidFill>
                  <a:srgbClr val="6E6358"/>
                </a:solidFill>
                <a:latin typeface="Calibri" pitchFamily="34" charset="0"/>
                <a:ea typeface="Calibri" pitchFamily="34" charset="-122"/>
                <a:cs typeface="Calibri" pitchFamily="34" charset="-120"/>
              </a:rPr>
              <a:t>latents rebuild a full spectrum</a:t>
            </a:r>
            <a:endParaRPr lang="en-US" sz="1050" dirty="0"/>
          </a:p>
        </p:txBody>
      </p:sp>
      <p:sp>
        <p:nvSpPr>
          <p:cNvPr id="13" name="Text 10"/>
          <p:cNvSpPr/>
          <p:nvPr/>
        </p:nvSpPr>
        <p:spPr>
          <a:xfrm>
            <a:off x="566928" y="5989320"/>
            <a:ext cx="11057839" cy="640080"/>
          </a:xfrm>
          <a:prstGeom prst="rect">
            <a:avLst/>
          </a:prstGeom>
          <a:noFill/>
          <a:ln/>
        </p:spPr>
        <p:txBody>
          <a:bodyPr wrap="square" lIns="0" tIns="0" rIns="0" bIns="0" rtlCol="0" anchor="t"/>
          <a:lstStyle/>
          <a:p>
            <a:pPr indent="0" marL="0">
              <a:lnSpc>
                <a:spcPct val="104000"/>
              </a:lnSpc>
              <a:buNone/>
            </a:pPr>
            <a:r>
              <a:rPr lang="en-US" sz="1250" b="1" dirty="0">
                <a:solidFill>
                  <a:srgbClr val="1C5D63"/>
                </a:solidFill>
                <a:latin typeface="Calibri" pitchFamily="34" charset="0"/>
                <a:ea typeface="Calibri" pitchFamily="34" charset="-122"/>
                <a:cs typeface="Calibri" pitchFamily="34" charset="-120"/>
              </a:rPr>
              <a:t>Why it matters:  </a:t>
            </a:r>
            <a:pPr indent="0" marL="0">
              <a:lnSpc>
                <a:spcPct val="104000"/>
              </a:lnSpc>
              <a:buNone/>
            </a:pPr>
            <a:r>
              <a:rPr lang="en-US" sz="1250" i="1" dirty="0">
                <a:solidFill>
                  <a:srgbClr val="33312E"/>
                </a:solidFill>
                <a:latin typeface="Calibri" pitchFamily="34" charset="0"/>
                <a:ea typeface="Calibri" pitchFamily="34" charset="-122"/>
                <a:cs typeface="Calibri" pitchFamily="34" charset="-120"/>
              </a:rPr>
              <a:t>The key design move: the redshift transformation lives in the decoder, not the latent — so the code encodes galaxy type at any redshift, letting one model swallow a whole survey.</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1C5D63"/>
                </a:solidFill>
                <a:latin typeface="Calibri" pitchFamily="34" charset="0"/>
                <a:ea typeface="Calibri" pitchFamily="34" charset="-122"/>
                <a:cs typeface="Calibri" pitchFamily="34" charset="-120"/>
              </a:rPr>
              <a:t>ASTROPHYSICS · DEEP DIVE ②</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Discovery by reconstruction error</a:t>
            </a:r>
            <a:endParaRPr lang="en-US" sz="2900" dirty="0"/>
          </a:p>
        </p:txBody>
      </p:sp>
      <p:sp>
        <p:nvSpPr>
          <p:cNvPr id="4" name="Shape 2"/>
          <p:cNvSpPr/>
          <p:nvPr/>
        </p:nvSpPr>
        <p:spPr>
          <a:xfrm>
            <a:off x="11057839" y="457200"/>
            <a:ext cx="566928" cy="566928"/>
          </a:xfrm>
          <a:prstGeom prst="ellipse">
            <a:avLst/>
          </a:prstGeom>
          <a:solidFill>
            <a:srgbClr val="1C5D63"/>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pic>
        <p:nvPicPr>
          <p:cNvPr id="6" name="Image 0" descr="/home/claude/deck/../assets/m_anom_astro.png">    </p:cNvPr>
          <p:cNvPicPr>
            <a:picLocks noChangeAspect="1"/>
          </p:cNvPicPr>
          <p:nvPr/>
        </p:nvPicPr>
        <p:blipFill>
          <a:blip r:embed="rId1"/>
          <a:stretch>
            <a:fillRect/>
          </a:stretch>
        </p:blipFill>
        <p:spPr>
          <a:xfrm>
            <a:off x="6829654" y="1901952"/>
            <a:ext cx="4262933" cy="2743200"/>
          </a:xfrm>
          <a:prstGeom prst="rect">
            <a:avLst/>
          </a:prstGeom>
        </p:spPr>
      </p:pic>
      <p:sp>
        <p:nvSpPr>
          <p:cNvPr id="7" name="Text 4"/>
          <p:cNvSpPr/>
          <p:nvPr/>
        </p:nvSpPr>
        <p:spPr>
          <a:xfrm>
            <a:off x="6263640" y="4828032"/>
            <a:ext cx="5394960" cy="365760"/>
          </a:xfrm>
          <a:prstGeom prst="rect">
            <a:avLst/>
          </a:prstGeom>
          <a:noFill/>
          <a:ln/>
        </p:spPr>
        <p:txBody>
          <a:bodyPr wrap="square" lIns="0" tIns="0" rIns="0" bIns="0" rtlCol="0" anchor="ctr"/>
          <a:lstStyle/>
          <a:p>
            <a:pPr algn="ctr" indent="0" marL="0">
              <a:buNone/>
            </a:pPr>
            <a:r>
              <a:rPr lang="en-US" sz="1050" i="1" dirty="0">
                <a:solidFill>
                  <a:srgbClr val="6E6358"/>
                </a:solidFill>
                <a:latin typeface="Calibri" pitchFamily="34" charset="0"/>
                <a:ea typeface="Calibri" pitchFamily="34" charset="-122"/>
                <a:cs typeface="Calibri" pitchFamily="34" charset="-120"/>
              </a:rPr>
              <a:t>Train on the bulk; rank by reconstruction error; inspect the tail.</a:t>
            </a:r>
            <a:endParaRPr lang="en-US" sz="1050" dirty="0"/>
          </a:p>
        </p:txBody>
      </p:sp>
      <p:sp>
        <p:nvSpPr>
          <p:cNvPr id="8" name="Text 5"/>
          <p:cNvSpPr/>
          <p:nvPr/>
        </p:nvSpPr>
        <p:spPr>
          <a:xfrm>
            <a:off x="566928" y="1719072"/>
            <a:ext cx="5532120" cy="31089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Surveys (SDSS, DESI, Rubin/LSST) yield 10⁷–10⁹ objects; the interesting ones are rare and of unknown type — there are no labels for “unknown unknowns.”</a:t>
            </a:r>
            <a:endParaRPr lang="en-US" sz="1300" dirty="0"/>
          </a:p>
          <a:p>
            <a:pPr marL="177800" indent="-177800">
              <a:spcAft>
                <a:spcPts val="700"/>
              </a:spcAft>
              <a:buSzPct val="100000"/>
              <a:buChar char="•"/>
            </a:pPr>
            <a:r>
              <a:rPr lang="en-US" sz="1300" dirty="0">
                <a:solidFill>
                  <a:srgbClr val="1C5D63"/>
                </a:solidFill>
                <a:latin typeface="Calibri" pitchFamily="34" charset="0"/>
                <a:ea typeface="Calibri" pitchFamily="34" charset="-122"/>
                <a:cs typeface="Calibri" pitchFamily="34" charset="-120"/>
              </a:rPr>
              <a:t>Train an AE on the typical population; reconstruction error is a novelty score. Off-manifold means “unlike anything common.”</a:t>
            </a:r>
            <a:endParaRPr lang="en-US" sz="1300" dirty="0"/>
          </a:p>
          <a:p>
            <a:pPr marL="177800" indent="-177800">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Remove the dominant nuisance first: redshift-invariant latents (Liang et al. 2023, on spender) make the residual surface genuinely new physics, not just a different redshift.</a:t>
            </a:r>
            <a:endParaRPr lang="en-US" sz="1300" dirty="0"/>
          </a:p>
          <a:p>
            <a:pPr marL="177800" indent="-177800">
              <a:spcAft>
                <a:spcPts val="700"/>
              </a:spcAft>
              <a:buSzPct val="100000"/>
              <a:buChar char="•"/>
            </a:pPr>
            <a:r>
              <a:rPr lang="en-US" sz="1300" dirty="0">
                <a:solidFill>
                  <a:srgbClr val="1C5D63"/>
                </a:solidFill>
                <a:latin typeface="Calibri" pitchFamily="34" charset="0"/>
                <a:ea typeface="Calibri" pitchFamily="34" charset="-122"/>
                <a:cs typeface="Calibri" pitchFamily="34" charset="-120"/>
              </a:rPr>
              <a:t>What surfaces at the top: rare quasars, blends, instrument artifacts, unclassified oddballs — a model-agnostic discovery engine.</a:t>
            </a:r>
            <a:endParaRPr lang="en-US" sz="1300" dirty="0"/>
          </a:p>
        </p:txBody>
      </p:sp>
      <p:sp>
        <p:nvSpPr>
          <p:cNvPr id="9" name="Shape 6"/>
          <p:cNvSpPr/>
          <p:nvPr/>
        </p:nvSpPr>
        <p:spPr>
          <a:xfrm>
            <a:off x="566928" y="4873752"/>
            <a:ext cx="11064240" cy="868680"/>
          </a:xfrm>
          <a:prstGeom prst="roundRect">
            <a:avLst>
              <a:gd name="adj" fmla="val 6316"/>
            </a:avLst>
          </a:prstGeom>
          <a:solidFill>
            <a:srgbClr val="F7EFEE"/>
          </a:solidFill>
          <a:ln/>
          <a:effectLst>
            <a:outerShdw sx="100000" sy="100000" kx="0" ky="0" algn="bl" rotWithShape="0" blurRad="63500" dist="38100" dir="5400000">
              <a:srgbClr val="000000">
                <a:alpha val="10000"/>
              </a:srgbClr>
            </a:outerShdw>
          </a:effectLst>
        </p:spPr>
      </p:sp>
      <p:sp>
        <p:nvSpPr>
          <p:cNvPr id="10" name="Shape 7"/>
          <p:cNvSpPr/>
          <p:nvPr/>
        </p:nvSpPr>
        <p:spPr>
          <a:xfrm>
            <a:off x="713232" y="5010912"/>
            <a:ext cx="577901" cy="274320"/>
          </a:xfrm>
          <a:prstGeom prst="roundRect">
            <a:avLst>
              <a:gd name="adj" fmla="val 13333"/>
            </a:avLst>
          </a:prstGeom>
          <a:solidFill>
            <a:srgbClr val="B85042"/>
          </a:solidFill>
          <a:ln/>
        </p:spPr>
      </p:sp>
      <p:sp>
        <p:nvSpPr>
          <p:cNvPr id="11" name="Text 8"/>
          <p:cNvSpPr/>
          <p:nvPr/>
        </p:nvSpPr>
        <p:spPr>
          <a:xfrm>
            <a:off x="713232" y="5010912"/>
            <a:ext cx="577901"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GOTCHA</a:t>
            </a:r>
            <a:endParaRPr lang="en-US" sz="1050" dirty="0"/>
          </a:p>
        </p:txBody>
      </p:sp>
      <p:sp>
        <p:nvSpPr>
          <p:cNvPr id="12" name="Text 9"/>
          <p:cNvSpPr/>
          <p:nvPr/>
        </p:nvSpPr>
        <p:spPr>
          <a:xfrm>
            <a:off x="713232" y="5321808"/>
            <a:ext cx="10771632" cy="32004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Use reconstruction error, not model likelihood: deep generative models can assign higher likelihood to out-of-distribution inputs than to real data (Nalisnick et al. 2019). The same caution returns, verbatim, in the particle-physics search.</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1C5D63"/>
                </a:solidFill>
                <a:latin typeface="Calibri" pitchFamily="34" charset="0"/>
                <a:ea typeface="Calibri" pitchFamily="34" charset="-122"/>
                <a:cs typeface="Calibri" pitchFamily="34" charset="-120"/>
              </a:rPr>
              <a:t>ASTROPHYSICS · PAPER IN DETAIL</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spender (II) — redshift invariance &amp; outlier detection</a:t>
            </a:r>
            <a:endParaRPr lang="en-US" sz="2900" dirty="0"/>
          </a:p>
        </p:txBody>
      </p:sp>
      <p:sp>
        <p:nvSpPr>
          <p:cNvPr id="4" name="Shape 2"/>
          <p:cNvSpPr/>
          <p:nvPr/>
        </p:nvSpPr>
        <p:spPr>
          <a:xfrm>
            <a:off x="11057839" y="457200"/>
            <a:ext cx="566928" cy="566928"/>
          </a:xfrm>
          <a:prstGeom prst="ellipse">
            <a:avLst/>
          </a:prstGeom>
          <a:solidFill>
            <a:srgbClr val="1C5D63"/>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6" name="Text 4"/>
          <p:cNvSpPr/>
          <p:nvPr/>
        </p:nvSpPr>
        <p:spPr>
          <a:xfrm>
            <a:off x="566928" y="1609344"/>
            <a:ext cx="11057839" cy="292608"/>
          </a:xfrm>
          <a:prstGeom prst="rect">
            <a:avLst/>
          </a:prstGeom>
          <a:noFill/>
          <a:ln/>
        </p:spPr>
        <p:txBody>
          <a:bodyPr wrap="square" lIns="0" tIns="0" rIns="0" bIns="0" rtlCol="0" anchor="ctr"/>
          <a:lstStyle/>
          <a:p>
            <a:pPr indent="0" marL="0">
              <a:buNone/>
            </a:pPr>
            <a:r>
              <a:rPr lang="en-US" sz="1150" i="1" dirty="0">
                <a:solidFill>
                  <a:srgbClr val="6E6358"/>
                </a:solidFill>
                <a:latin typeface="Calibri" pitchFamily="34" charset="0"/>
                <a:ea typeface="Calibri" pitchFamily="34" charset="-122"/>
                <a:cs typeface="Calibri" pitchFamily="34" charset="-120"/>
              </a:rPr>
              <a:t>Liang, Melchior, Lu, Goulding &amp; Ward · The Astronomical Journal (2023) · arXiv:2302.02496</a:t>
            </a:r>
            <a:endParaRPr lang="en-US" sz="1150" dirty="0"/>
          </a:p>
        </p:txBody>
      </p:sp>
      <p:pic>
        <p:nvPicPr>
          <p:cNvPr id="7" name="Image 0" descr="/home/claude/deck/../assets/p_liang.png">    </p:cNvPr>
          <p:cNvPicPr>
            <a:picLocks noChangeAspect="1"/>
          </p:cNvPicPr>
          <p:nvPr/>
        </p:nvPicPr>
        <p:blipFill>
          <a:blip r:embed="rId1"/>
          <a:stretch>
            <a:fillRect/>
          </a:stretch>
        </p:blipFill>
        <p:spPr>
          <a:xfrm>
            <a:off x="566928" y="2153438"/>
            <a:ext cx="5623560" cy="3556964"/>
          </a:xfrm>
          <a:prstGeom prst="rect">
            <a:avLst/>
          </a:prstGeom>
        </p:spPr>
      </p:pic>
      <p:sp>
        <p:nvSpPr>
          <p:cNvPr id="8" name="Text 5"/>
          <p:cNvSpPr/>
          <p:nvPr/>
        </p:nvSpPr>
        <p:spPr>
          <a:xfrm>
            <a:off x="6483096" y="2029968"/>
            <a:ext cx="5141671" cy="320040"/>
          </a:xfrm>
          <a:prstGeom prst="rect">
            <a:avLst/>
          </a:prstGeom>
          <a:noFill/>
          <a:ln/>
        </p:spPr>
        <p:txBody>
          <a:bodyPr wrap="square" lIns="0" tIns="0" rIns="0" bIns="0" rtlCol="0" anchor="ctr"/>
          <a:lstStyle/>
          <a:p>
            <a:pPr indent="0" marL="0">
              <a:buNone/>
            </a:pPr>
            <a:r>
              <a:rPr lang="en-US" sz="1500" b="1" dirty="0">
                <a:solidFill>
                  <a:srgbClr val="1C5D63"/>
                </a:solidFill>
                <a:latin typeface="Cambria" pitchFamily="34" charset="0"/>
                <a:ea typeface="Cambria" pitchFamily="34" charset="-122"/>
                <a:cs typeface="Cambria" pitchFamily="34" charset="-120"/>
              </a:rPr>
              <a:t>What the paper shows</a:t>
            </a:r>
            <a:endParaRPr lang="en-US" sz="1500" dirty="0"/>
          </a:p>
        </p:txBody>
      </p:sp>
      <p:sp>
        <p:nvSpPr>
          <p:cNvPr id="9" name="Text 6"/>
          <p:cNvSpPr/>
          <p:nvPr/>
        </p:nvSpPr>
        <p:spPr>
          <a:xfrm>
            <a:off x="6483096" y="2468880"/>
            <a:ext cx="5141671" cy="233172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A redshift-stable latent → reliable, reproducible novelty scores.</a:t>
            </a:r>
            <a:endParaRPr lang="en-US" sz="1250" dirty="0"/>
          </a:p>
          <a:p>
            <a:pPr marL="177800" indent="-1778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Surfaces genuine oddities: artifacts, blends, and stars misclassified as galaxies.</a:t>
            </a:r>
            <a:endParaRPr lang="en-US" sz="1250" dirty="0"/>
          </a:p>
          <a:p>
            <a:pPr marL="177800" indent="-1778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Released the retrained model and a latent-space probability for the entire SDSS-I galaxy sample.</a:t>
            </a:r>
            <a:endParaRPr lang="en-US" sz="1250" dirty="0"/>
          </a:p>
        </p:txBody>
      </p:sp>
      <p:sp>
        <p:nvSpPr>
          <p:cNvPr id="10" name="Shape 7"/>
          <p:cNvSpPr/>
          <p:nvPr/>
        </p:nvSpPr>
        <p:spPr>
          <a:xfrm>
            <a:off x="6483096" y="4892040"/>
            <a:ext cx="5141671" cy="914400"/>
          </a:xfrm>
          <a:prstGeom prst="roundRect">
            <a:avLst>
              <a:gd name="adj" fmla="val 6000"/>
            </a:avLst>
          </a:prstGeom>
          <a:solidFill>
            <a:srgbClr val="EEF3F2"/>
          </a:solidFill>
          <a:ln/>
          <a:effectLst>
            <a:outerShdw sx="100000" sy="100000" kx="0" ky="0" algn="bl" rotWithShape="0" blurRad="63500" dist="38100" dir="5400000">
              <a:srgbClr val="000000">
                <a:alpha val="10000"/>
              </a:srgbClr>
            </a:outerShdw>
          </a:effectLst>
        </p:spPr>
      </p:sp>
      <p:sp>
        <p:nvSpPr>
          <p:cNvPr id="11" name="Text 8"/>
          <p:cNvSpPr/>
          <p:nvPr/>
        </p:nvSpPr>
        <p:spPr>
          <a:xfrm>
            <a:off x="6665976" y="4928616"/>
            <a:ext cx="4775911" cy="530352"/>
          </a:xfrm>
          <a:prstGeom prst="rect">
            <a:avLst/>
          </a:prstGeom>
          <a:noFill/>
          <a:ln/>
        </p:spPr>
        <p:txBody>
          <a:bodyPr wrap="square" lIns="0" tIns="0" rIns="0" bIns="0" rtlCol="0" anchor="ctr"/>
          <a:lstStyle/>
          <a:p>
            <a:pPr algn="l" indent="0" marL="0">
              <a:buNone/>
            </a:pPr>
            <a:r>
              <a:rPr lang="en-US" sz="3200" b="1" dirty="0">
                <a:solidFill>
                  <a:srgbClr val="1C5D63"/>
                </a:solidFill>
                <a:latin typeface="Cambria" pitchFamily="34" charset="0"/>
                <a:ea typeface="Cambria" pitchFamily="34" charset="-122"/>
                <a:cs typeface="Cambria" pitchFamily="34" charset="-120"/>
              </a:rPr>
              <a:t>SDSS-I</a:t>
            </a:r>
            <a:endParaRPr lang="en-US" sz="3200" dirty="0"/>
          </a:p>
        </p:txBody>
      </p:sp>
      <p:sp>
        <p:nvSpPr>
          <p:cNvPr id="12" name="Text 9"/>
          <p:cNvSpPr/>
          <p:nvPr/>
        </p:nvSpPr>
        <p:spPr>
          <a:xfrm>
            <a:off x="6684264" y="5458968"/>
            <a:ext cx="4775911" cy="310896"/>
          </a:xfrm>
          <a:prstGeom prst="rect">
            <a:avLst/>
          </a:prstGeom>
          <a:noFill/>
          <a:ln/>
        </p:spPr>
        <p:txBody>
          <a:bodyPr wrap="square" lIns="0" tIns="0" rIns="0" bIns="0" rtlCol="0" anchor="t"/>
          <a:lstStyle/>
          <a:p>
            <a:pPr algn="l" indent="0" marL="0">
              <a:lnSpc>
                <a:spcPct val="95000"/>
              </a:lnSpc>
              <a:buNone/>
            </a:pPr>
            <a:r>
              <a:rPr lang="en-US" sz="1050" i="1" dirty="0">
                <a:solidFill>
                  <a:srgbClr val="6E6358"/>
                </a:solidFill>
                <a:latin typeface="Calibri" pitchFamily="34" charset="0"/>
                <a:ea typeface="Calibri" pitchFamily="34" charset="-122"/>
                <a:cs typeface="Calibri" pitchFamily="34" charset="-120"/>
              </a:rPr>
              <a:t>full sample scored &amp; released</a:t>
            </a:r>
            <a:endParaRPr lang="en-US" sz="1050" dirty="0"/>
          </a:p>
        </p:txBody>
      </p:sp>
      <p:sp>
        <p:nvSpPr>
          <p:cNvPr id="13" name="Text 10"/>
          <p:cNvSpPr/>
          <p:nvPr/>
        </p:nvSpPr>
        <p:spPr>
          <a:xfrm>
            <a:off x="566928" y="5989320"/>
            <a:ext cx="11057839" cy="640080"/>
          </a:xfrm>
          <a:prstGeom prst="rect">
            <a:avLst/>
          </a:prstGeom>
          <a:noFill/>
          <a:ln/>
        </p:spPr>
        <p:txBody>
          <a:bodyPr wrap="square" lIns="0" tIns="0" rIns="0" bIns="0" rtlCol="0" anchor="t"/>
          <a:lstStyle/>
          <a:p>
            <a:pPr indent="0" marL="0">
              <a:lnSpc>
                <a:spcPct val="104000"/>
              </a:lnSpc>
              <a:buNone/>
            </a:pPr>
            <a:r>
              <a:rPr lang="en-US" sz="1250" b="1" dirty="0">
                <a:solidFill>
                  <a:srgbClr val="1C5D63"/>
                </a:solidFill>
                <a:latin typeface="Calibri" pitchFamily="34" charset="0"/>
                <a:ea typeface="Calibri" pitchFamily="34" charset="-122"/>
                <a:cs typeface="Calibri" pitchFamily="34" charset="-120"/>
              </a:rPr>
              <a:t>Why it matters:  </a:t>
            </a:r>
            <a:pPr indent="0" marL="0">
              <a:lnSpc>
                <a:spcPct val="104000"/>
              </a:lnSpc>
              <a:buNone/>
            </a:pPr>
            <a:r>
              <a:rPr lang="en-US" sz="1250" i="1" dirty="0">
                <a:solidFill>
                  <a:srgbClr val="33312E"/>
                </a:solidFill>
                <a:latin typeface="Calibri" pitchFamily="34" charset="0"/>
                <a:ea typeface="Calibri" pitchFamily="34" charset="-122"/>
                <a:cs typeface="Calibri" pitchFamily="34" charset="-120"/>
              </a:rPr>
              <a:t>A cautionary tale worth keeping: an architecture that should be invariant need not be. Invariance often has to be trained in, not assumed — true of equivariant networks generally.</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1C5D63"/>
                </a:solidFill>
                <a:latin typeface="Calibri" pitchFamily="34" charset="0"/>
                <a:ea typeface="Calibri" pitchFamily="34" charset="-122"/>
                <a:cs typeface="Calibri" pitchFamily="34" charset="-120"/>
              </a:rPr>
              <a:t>ASTROPHYSICS · DEEP DIVE ③</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Deblending overlapping galaxies</a:t>
            </a:r>
            <a:endParaRPr lang="en-US" sz="2900" dirty="0"/>
          </a:p>
        </p:txBody>
      </p:sp>
      <p:sp>
        <p:nvSpPr>
          <p:cNvPr id="4" name="Shape 2"/>
          <p:cNvSpPr/>
          <p:nvPr/>
        </p:nvSpPr>
        <p:spPr>
          <a:xfrm>
            <a:off x="11057839" y="457200"/>
            <a:ext cx="566928" cy="566928"/>
          </a:xfrm>
          <a:prstGeom prst="ellipse">
            <a:avLst/>
          </a:prstGeom>
          <a:solidFill>
            <a:srgbClr val="1C5D63"/>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pic>
        <p:nvPicPr>
          <p:cNvPr id="6" name="Image 0" descr="/home/claude/deck/../assets/m_deblend.png">    </p:cNvPr>
          <p:cNvPicPr>
            <a:picLocks noChangeAspect="1"/>
          </p:cNvPicPr>
          <p:nvPr/>
        </p:nvPicPr>
        <p:blipFill>
          <a:blip r:embed="rId1"/>
          <a:stretch>
            <a:fillRect/>
          </a:stretch>
        </p:blipFill>
        <p:spPr>
          <a:xfrm>
            <a:off x="6035040" y="2342075"/>
            <a:ext cx="5577840" cy="1954394"/>
          </a:xfrm>
          <a:prstGeom prst="rect">
            <a:avLst/>
          </a:prstGeom>
        </p:spPr>
      </p:pic>
      <p:sp>
        <p:nvSpPr>
          <p:cNvPr id="7" name="Text 4"/>
          <p:cNvSpPr/>
          <p:nvPr/>
        </p:nvSpPr>
        <p:spPr>
          <a:xfrm>
            <a:off x="6035040" y="4553712"/>
            <a:ext cx="5577840" cy="365760"/>
          </a:xfrm>
          <a:prstGeom prst="rect">
            <a:avLst/>
          </a:prstGeom>
          <a:noFill/>
          <a:ln/>
        </p:spPr>
        <p:txBody>
          <a:bodyPr wrap="square" lIns="0" tIns="0" rIns="0" bIns="0" rtlCol="0" anchor="ctr"/>
          <a:lstStyle/>
          <a:p>
            <a:pPr algn="ctr" indent="0" marL="0">
              <a:buNone/>
            </a:pPr>
            <a:r>
              <a:rPr lang="en-US" sz="1050" i="1" dirty="0">
                <a:solidFill>
                  <a:srgbClr val="6E6358"/>
                </a:solidFill>
                <a:latin typeface="Calibri" pitchFamily="34" charset="0"/>
                <a:ea typeface="Calibri" pitchFamily="34" charset="-122"/>
                <a:cs typeface="Calibri" pitchFamily="34" charset="-120"/>
              </a:rPr>
              <a:t>Explain blended pixels as a sum of galaxies decoded from a learned prior.</a:t>
            </a:r>
            <a:endParaRPr lang="en-US" sz="1050" dirty="0"/>
          </a:p>
        </p:txBody>
      </p:sp>
      <p:sp>
        <p:nvSpPr>
          <p:cNvPr id="8" name="Text 5"/>
          <p:cNvSpPr/>
          <p:nvPr/>
        </p:nvSpPr>
        <p:spPr>
          <a:xfrm>
            <a:off x="566928" y="1764792"/>
            <a:ext cx="5486400" cy="27432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In deep Rubin/Euclid images the sky is crowded: galaxies overlap (“blends”), biasing every shape and flux measurement — and thus weak-lensing cosmology.</a:t>
            </a:r>
            <a:endParaRPr lang="en-US" sz="1350" dirty="0"/>
          </a:p>
          <a:p>
            <a:pPr marL="177800" indent="-177800">
              <a:spcAft>
                <a:spcPts val="800"/>
              </a:spcAft>
              <a:buSzPct val="100000"/>
              <a:buChar char="•"/>
            </a:pPr>
            <a:r>
              <a:rPr lang="en-US" sz="1350" dirty="0">
                <a:solidFill>
                  <a:srgbClr val="1C5D63"/>
                </a:solidFill>
                <a:latin typeface="Calibri" pitchFamily="34" charset="0"/>
                <a:ea typeface="Calibri" pitchFamily="34" charset="-122"/>
                <a:cs typeface="Calibri" pitchFamily="34" charset="-120"/>
              </a:rPr>
              <a:t>Train a VAE as a prior over isolated galaxy images. Deblending becomes inference in that latent space (Arcelin et al. 2021): find codes whose decoded galaxies sum to the observed pixels.</a:t>
            </a:r>
            <a:endParaRPr lang="en-US" sz="1350" dirty="0"/>
          </a:p>
          <a:p>
            <a:pPr marL="177800" indent="-1778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The generative prior regularizes an ill-posed inverse problem — far more robust than parametric (Sérsic) fits on irregular, real galaxies.</a:t>
            </a:r>
            <a:endParaRPr lang="en-US" sz="1350" dirty="0"/>
          </a:p>
        </p:txBody>
      </p:sp>
      <p:sp>
        <p:nvSpPr>
          <p:cNvPr id="9" name="Shape 6"/>
          <p:cNvSpPr/>
          <p:nvPr/>
        </p:nvSpPr>
        <p:spPr>
          <a:xfrm>
            <a:off x="566928" y="4645152"/>
            <a:ext cx="5486400" cy="1097280"/>
          </a:xfrm>
          <a:prstGeom prst="roundRect">
            <a:avLst>
              <a:gd name="adj" fmla="val 5000"/>
            </a:avLst>
          </a:prstGeom>
          <a:solidFill>
            <a:srgbClr val="EEF3F2"/>
          </a:solidFill>
          <a:ln/>
          <a:effectLst>
            <a:outerShdw sx="100000" sy="100000" kx="0" ky="0" algn="bl" rotWithShape="0" blurRad="63500" dist="38100" dir="5400000">
              <a:srgbClr val="000000">
                <a:alpha val="10000"/>
              </a:srgbClr>
            </a:outerShdw>
          </a:effectLst>
        </p:spPr>
      </p:sp>
      <p:sp>
        <p:nvSpPr>
          <p:cNvPr id="10" name="Shape 7"/>
          <p:cNvSpPr/>
          <p:nvPr/>
        </p:nvSpPr>
        <p:spPr>
          <a:xfrm>
            <a:off x="713232" y="4782312"/>
            <a:ext cx="652882" cy="274320"/>
          </a:xfrm>
          <a:prstGeom prst="roundRect">
            <a:avLst>
              <a:gd name="adj" fmla="val 13333"/>
            </a:avLst>
          </a:prstGeom>
          <a:solidFill>
            <a:srgbClr val="1C5D63"/>
          </a:solidFill>
          <a:ln/>
        </p:spPr>
      </p:sp>
      <p:sp>
        <p:nvSpPr>
          <p:cNvPr id="11" name="Text 8"/>
          <p:cNvSpPr/>
          <p:nvPr/>
        </p:nvSpPr>
        <p:spPr>
          <a:xfrm>
            <a:off x="713232" y="4782312"/>
            <a:ext cx="652882"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SCIENCE</a:t>
            </a:r>
            <a:endParaRPr lang="en-US" sz="1050" dirty="0"/>
          </a:p>
        </p:txBody>
      </p:sp>
      <p:sp>
        <p:nvSpPr>
          <p:cNvPr id="12" name="Text 9"/>
          <p:cNvSpPr/>
          <p:nvPr/>
        </p:nvSpPr>
        <p:spPr>
          <a:xfrm>
            <a:off x="713232" y="5093208"/>
            <a:ext cx="5193792" cy="54864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Here the autoencoder is not analyzing data but generating constraints: a smooth, sample-able latent turns “separate the sources” into optimization under a learned prior. The VAE's defining property is doing the scientific work.</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1C5D63"/>
                </a:solidFill>
                <a:latin typeface="Calibri" pitchFamily="34" charset="0"/>
                <a:ea typeface="Calibri" pitchFamily="34" charset="-122"/>
                <a:cs typeface="Calibri" pitchFamily="34" charset="-120"/>
              </a:rPr>
              <a:t>ASTROPHYSICS · PAPER IN DETAIL</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Deblending galaxies with VAEs — Arcelin et al. 2021</a:t>
            </a:r>
            <a:endParaRPr lang="en-US" sz="2900" dirty="0"/>
          </a:p>
        </p:txBody>
      </p:sp>
      <p:sp>
        <p:nvSpPr>
          <p:cNvPr id="4" name="Shape 2"/>
          <p:cNvSpPr/>
          <p:nvPr/>
        </p:nvSpPr>
        <p:spPr>
          <a:xfrm>
            <a:off x="11057839" y="457200"/>
            <a:ext cx="566928" cy="566928"/>
          </a:xfrm>
          <a:prstGeom prst="ellipse">
            <a:avLst/>
          </a:prstGeom>
          <a:solidFill>
            <a:srgbClr val="1C5D63"/>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6" name="Text 4"/>
          <p:cNvSpPr/>
          <p:nvPr/>
        </p:nvSpPr>
        <p:spPr>
          <a:xfrm>
            <a:off x="566928" y="1609344"/>
            <a:ext cx="11057839" cy="292608"/>
          </a:xfrm>
          <a:prstGeom prst="rect">
            <a:avLst/>
          </a:prstGeom>
          <a:noFill/>
          <a:ln/>
        </p:spPr>
        <p:txBody>
          <a:bodyPr wrap="square" lIns="0" tIns="0" rIns="0" bIns="0" rtlCol="0" anchor="ctr"/>
          <a:lstStyle/>
          <a:p>
            <a:pPr indent="0" marL="0">
              <a:buNone/>
            </a:pPr>
            <a:r>
              <a:rPr lang="en-US" sz="1150" i="1" dirty="0">
                <a:solidFill>
                  <a:srgbClr val="6E6358"/>
                </a:solidFill>
                <a:latin typeface="Calibri" pitchFamily="34" charset="0"/>
                <a:ea typeface="Calibri" pitchFamily="34" charset="-122"/>
                <a:cs typeface="Calibri" pitchFamily="34" charset="-120"/>
              </a:rPr>
              <a:t>Arcelin, Doux, Aubourg &amp; Roucelle (LSST DESC) · MNRAS 500:531 (2021) · arXiv:2005.12039</a:t>
            </a:r>
            <a:endParaRPr lang="en-US" sz="1150" dirty="0"/>
          </a:p>
        </p:txBody>
      </p:sp>
      <p:pic>
        <p:nvPicPr>
          <p:cNvPr id="7" name="Image 0" descr="/home/claude/deck/../assets/p_arcelin.png">    </p:cNvPr>
          <p:cNvPicPr>
            <a:picLocks noChangeAspect="1"/>
          </p:cNvPicPr>
          <p:nvPr/>
        </p:nvPicPr>
        <p:blipFill>
          <a:blip r:embed="rId1"/>
          <a:stretch>
            <a:fillRect/>
          </a:stretch>
        </p:blipFill>
        <p:spPr>
          <a:xfrm>
            <a:off x="566928" y="2089338"/>
            <a:ext cx="5623560" cy="3685164"/>
          </a:xfrm>
          <a:prstGeom prst="rect">
            <a:avLst/>
          </a:prstGeom>
        </p:spPr>
      </p:pic>
      <p:sp>
        <p:nvSpPr>
          <p:cNvPr id="8" name="Text 5"/>
          <p:cNvSpPr/>
          <p:nvPr/>
        </p:nvSpPr>
        <p:spPr>
          <a:xfrm>
            <a:off x="6483096" y="2029968"/>
            <a:ext cx="5141671" cy="320040"/>
          </a:xfrm>
          <a:prstGeom prst="rect">
            <a:avLst/>
          </a:prstGeom>
          <a:noFill/>
          <a:ln/>
        </p:spPr>
        <p:txBody>
          <a:bodyPr wrap="square" lIns="0" tIns="0" rIns="0" bIns="0" rtlCol="0" anchor="ctr"/>
          <a:lstStyle/>
          <a:p>
            <a:pPr indent="0" marL="0">
              <a:buNone/>
            </a:pPr>
            <a:r>
              <a:rPr lang="en-US" sz="1500" b="1" dirty="0">
                <a:solidFill>
                  <a:srgbClr val="1C5D63"/>
                </a:solidFill>
                <a:latin typeface="Cambria" pitchFamily="34" charset="0"/>
                <a:ea typeface="Cambria" pitchFamily="34" charset="-122"/>
                <a:cs typeface="Cambria" pitchFamily="34" charset="-120"/>
              </a:rPr>
              <a:t>What the paper shows</a:t>
            </a:r>
            <a:endParaRPr lang="en-US" sz="1500" dirty="0"/>
          </a:p>
        </p:txBody>
      </p:sp>
      <p:sp>
        <p:nvSpPr>
          <p:cNvPr id="9" name="Text 6"/>
          <p:cNvSpPr/>
          <p:nvPr/>
        </p:nvSpPr>
        <p:spPr>
          <a:xfrm>
            <a:off x="6483096" y="2468880"/>
            <a:ext cx="5141671" cy="233172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Median errors of ±0.01–0.05 on ellipticity and r-band magnitude in most configurations.</a:t>
            </a:r>
            <a:endParaRPr lang="en-US" sz="1250" dirty="0"/>
          </a:p>
          <a:p>
            <a:pPr marL="177800" indent="-1778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Ellipticity multiplicative (shear) bias ≈ 1.6% for blended objects in the best setup; robust to decentring.</a:t>
            </a:r>
            <a:endParaRPr lang="en-US" sz="1250" dirty="0"/>
          </a:p>
          <a:p>
            <a:pPr marL="177800" indent="-1778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Transfer learning toward real data gives encouraging early results.</a:t>
            </a:r>
            <a:endParaRPr lang="en-US" sz="1250" dirty="0"/>
          </a:p>
        </p:txBody>
      </p:sp>
      <p:sp>
        <p:nvSpPr>
          <p:cNvPr id="10" name="Shape 7"/>
          <p:cNvSpPr/>
          <p:nvPr/>
        </p:nvSpPr>
        <p:spPr>
          <a:xfrm>
            <a:off x="6483096" y="4892040"/>
            <a:ext cx="5141671" cy="914400"/>
          </a:xfrm>
          <a:prstGeom prst="roundRect">
            <a:avLst>
              <a:gd name="adj" fmla="val 6000"/>
            </a:avLst>
          </a:prstGeom>
          <a:solidFill>
            <a:srgbClr val="EEF3F2"/>
          </a:solidFill>
          <a:ln/>
          <a:effectLst>
            <a:outerShdw sx="100000" sy="100000" kx="0" ky="0" algn="bl" rotWithShape="0" blurRad="63500" dist="38100" dir="5400000">
              <a:srgbClr val="000000">
                <a:alpha val="10000"/>
              </a:srgbClr>
            </a:outerShdw>
          </a:effectLst>
        </p:spPr>
      </p:sp>
      <p:sp>
        <p:nvSpPr>
          <p:cNvPr id="11" name="Text 8"/>
          <p:cNvSpPr/>
          <p:nvPr/>
        </p:nvSpPr>
        <p:spPr>
          <a:xfrm>
            <a:off x="6665976" y="4928616"/>
            <a:ext cx="4775911" cy="530352"/>
          </a:xfrm>
          <a:prstGeom prst="rect">
            <a:avLst/>
          </a:prstGeom>
          <a:noFill/>
          <a:ln/>
        </p:spPr>
        <p:txBody>
          <a:bodyPr wrap="square" lIns="0" tIns="0" rIns="0" bIns="0" rtlCol="0" anchor="ctr"/>
          <a:lstStyle/>
          <a:p>
            <a:pPr algn="l" indent="0" marL="0">
              <a:buNone/>
            </a:pPr>
            <a:r>
              <a:rPr lang="en-US" sz="3600" b="1" dirty="0">
                <a:solidFill>
                  <a:srgbClr val="1C5D63"/>
                </a:solidFill>
                <a:latin typeface="Cambria" pitchFamily="34" charset="0"/>
                <a:ea typeface="Cambria" pitchFamily="34" charset="-122"/>
                <a:cs typeface="Cambria" pitchFamily="34" charset="-120"/>
              </a:rPr>
              <a:t>1.6%</a:t>
            </a:r>
            <a:endParaRPr lang="en-US" sz="3600" dirty="0"/>
          </a:p>
        </p:txBody>
      </p:sp>
      <p:sp>
        <p:nvSpPr>
          <p:cNvPr id="12" name="Text 9"/>
          <p:cNvSpPr/>
          <p:nvPr/>
        </p:nvSpPr>
        <p:spPr>
          <a:xfrm>
            <a:off x="6684264" y="5458968"/>
            <a:ext cx="4775911" cy="310896"/>
          </a:xfrm>
          <a:prstGeom prst="rect">
            <a:avLst/>
          </a:prstGeom>
          <a:noFill/>
          <a:ln/>
        </p:spPr>
        <p:txBody>
          <a:bodyPr wrap="square" lIns="0" tIns="0" rIns="0" bIns="0" rtlCol="0" anchor="t"/>
          <a:lstStyle/>
          <a:p>
            <a:pPr algn="l" indent="0" marL="0">
              <a:lnSpc>
                <a:spcPct val="95000"/>
              </a:lnSpc>
              <a:buNone/>
            </a:pPr>
            <a:r>
              <a:rPr lang="en-US" sz="1050" i="1" dirty="0">
                <a:solidFill>
                  <a:srgbClr val="6E6358"/>
                </a:solidFill>
                <a:latin typeface="Calibri" pitchFamily="34" charset="0"/>
                <a:ea typeface="Calibri" pitchFamily="34" charset="-122"/>
                <a:cs typeface="Calibri" pitchFamily="34" charset="-120"/>
              </a:rPr>
              <a:t>shear bias on blended objects</a:t>
            </a:r>
            <a:endParaRPr lang="en-US" sz="1050" dirty="0"/>
          </a:p>
        </p:txBody>
      </p:sp>
      <p:sp>
        <p:nvSpPr>
          <p:cNvPr id="13" name="Text 10"/>
          <p:cNvSpPr/>
          <p:nvPr/>
        </p:nvSpPr>
        <p:spPr>
          <a:xfrm>
            <a:off x="566928" y="5989320"/>
            <a:ext cx="11057839" cy="640080"/>
          </a:xfrm>
          <a:prstGeom prst="rect">
            <a:avLst/>
          </a:prstGeom>
          <a:noFill/>
          <a:ln/>
        </p:spPr>
        <p:txBody>
          <a:bodyPr wrap="square" lIns="0" tIns="0" rIns="0" bIns="0" rtlCol="0" anchor="t"/>
          <a:lstStyle/>
          <a:p>
            <a:pPr indent="0" marL="0">
              <a:lnSpc>
                <a:spcPct val="104000"/>
              </a:lnSpc>
              <a:buNone/>
            </a:pPr>
            <a:r>
              <a:rPr lang="en-US" sz="1250" b="1" dirty="0">
                <a:solidFill>
                  <a:srgbClr val="1C5D63"/>
                </a:solidFill>
                <a:latin typeface="Calibri" pitchFamily="34" charset="0"/>
                <a:ea typeface="Calibri" pitchFamily="34" charset="-122"/>
                <a:cs typeface="Calibri" pitchFamily="34" charset="-120"/>
              </a:rPr>
              <a:t>Why it matters:  </a:t>
            </a:r>
            <a:pPr indent="0" marL="0">
              <a:lnSpc>
                <a:spcPct val="104000"/>
              </a:lnSpc>
              <a:buNone/>
            </a:pPr>
            <a:r>
              <a:rPr lang="en-US" sz="1250" i="1" dirty="0">
                <a:solidFill>
                  <a:srgbClr val="33312E"/>
                </a:solidFill>
                <a:latin typeface="Calibri" pitchFamily="34" charset="0"/>
                <a:ea typeface="Calibri" pitchFamily="34" charset="-122"/>
                <a:cs typeface="Calibri" pitchFamily="34" charset="-120"/>
              </a:rPr>
              <a:t>The generative prior regularizes an ill-posed inverse problem — flexible enough for irregular real galaxies where parametric fits break, and it carries straight to multi-band, multi-instrument data.</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PARTICLE PHYSICS · DEEP DIVE ④</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Hunting new physics in the LHC trigger</a:t>
            </a:r>
            <a:endParaRPr lang="en-US" sz="2900" dirty="0"/>
          </a:p>
        </p:txBody>
      </p:sp>
      <p:sp>
        <p:nvSpPr>
          <p:cNvPr id="4" name="Shape 2"/>
          <p:cNvSpPr/>
          <p:nvPr/>
        </p:nvSpPr>
        <p:spPr>
          <a:xfrm>
            <a:off x="11057839" y="457200"/>
            <a:ext cx="566928" cy="566928"/>
          </a:xfrm>
          <a:prstGeom prst="ellipse">
            <a:avLst/>
          </a:prstGeom>
          <a:solidFill>
            <a:srgbClr val="065A82"/>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pic>
        <p:nvPicPr>
          <p:cNvPr id="6" name="Image 0" descr="/home/claude/deck/../assets/m_anom_particle.png">    </p:cNvPr>
          <p:cNvPicPr>
            <a:picLocks noChangeAspect="1"/>
          </p:cNvPicPr>
          <p:nvPr/>
        </p:nvPicPr>
        <p:blipFill>
          <a:blip r:embed="rId1"/>
          <a:stretch>
            <a:fillRect/>
          </a:stretch>
        </p:blipFill>
        <p:spPr>
          <a:xfrm>
            <a:off x="7262531" y="1901952"/>
            <a:ext cx="3397179" cy="2194560"/>
          </a:xfrm>
          <a:prstGeom prst="rect">
            <a:avLst/>
          </a:prstGeom>
        </p:spPr>
      </p:pic>
      <p:pic>
        <p:nvPicPr>
          <p:cNvPr id="7" name="Image 1" descr="/home/claude/deck/../assets/eq_anom.png">    </p:cNvPr>
          <p:cNvPicPr>
            <a:picLocks noChangeAspect="1"/>
          </p:cNvPicPr>
          <p:nvPr/>
        </p:nvPicPr>
        <p:blipFill>
          <a:blip r:embed="rId2"/>
          <a:stretch>
            <a:fillRect/>
          </a:stretch>
        </p:blipFill>
        <p:spPr>
          <a:xfrm>
            <a:off x="6982724" y="4233672"/>
            <a:ext cx="2310872" cy="594360"/>
          </a:xfrm>
          <a:prstGeom prst="rect">
            <a:avLst/>
          </a:prstGeom>
        </p:spPr>
      </p:pic>
      <p:sp>
        <p:nvSpPr>
          <p:cNvPr id="8" name="Text 4"/>
          <p:cNvSpPr/>
          <p:nvPr/>
        </p:nvSpPr>
        <p:spPr>
          <a:xfrm>
            <a:off x="6263640" y="4919472"/>
            <a:ext cx="5394960" cy="365760"/>
          </a:xfrm>
          <a:prstGeom prst="rect">
            <a:avLst/>
          </a:prstGeom>
          <a:noFill/>
          <a:ln/>
        </p:spPr>
        <p:txBody>
          <a:bodyPr wrap="square" lIns="0" tIns="0" rIns="0" bIns="0" rtlCol="0" anchor="ctr"/>
          <a:lstStyle/>
          <a:p>
            <a:pPr algn="ctr" indent="0" marL="0">
              <a:buNone/>
            </a:pPr>
            <a:r>
              <a:rPr lang="en-US" sz="1050" i="1" dirty="0">
                <a:solidFill>
                  <a:srgbClr val="6E6358"/>
                </a:solidFill>
                <a:latin typeface="Calibri" pitchFamily="34" charset="0"/>
                <a:ea typeface="Calibri" pitchFamily="34" charset="-122"/>
                <a:cs typeface="Calibri" pitchFamily="34" charset="-120"/>
              </a:rPr>
              <a:t>Train on Standard-Model background only; new physics piles up off-manifold.</a:t>
            </a:r>
            <a:endParaRPr lang="en-US" sz="1050" dirty="0"/>
          </a:p>
        </p:txBody>
      </p:sp>
      <p:sp>
        <p:nvSpPr>
          <p:cNvPr id="9" name="Text 5"/>
          <p:cNvSpPr/>
          <p:nvPr/>
        </p:nvSpPr>
        <p:spPr>
          <a:xfrm>
            <a:off x="566928" y="1810512"/>
            <a:ext cx="5486400" cy="30175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The LHC collides bunches at 40 MHz; ~99.999% is known Standard-Model background, and new physics is rare and shape-unknown — you cannot train a supervised classifier for it.</a:t>
            </a:r>
            <a:endParaRPr lang="en-US" sz="1300" dirty="0"/>
          </a:p>
          <a:p>
            <a:pPr marL="177800" indent="-177800">
              <a:spcAft>
                <a:spcPts val="800"/>
              </a:spcAft>
              <a:buSzPct val="100000"/>
              <a:buChar char="•"/>
            </a:pPr>
            <a:r>
              <a:rPr lang="en-US" sz="1300" dirty="0">
                <a:solidFill>
                  <a:srgbClr val="065A82"/>
                </a:solidFill>
                <a:latin typeface="Calibri" pitchFamily="34" charset="0"/>
                <a:ea typeface="Calibri" pitchFamily="34" charset="-122"/>
                <a:cs typeface="Calibri" pitchFamily="34" charset="-120"/>
              </a:rPr>
              <a:t>Model-agnostic move: train a (V)AE on background only; the reconstruction error is the anomaly score (Cerri et al. 2019). New physics is off the SM manifold.</a:t>
            </a:r>
            <a:endParaRPr lang="en-US" sz="1300" dirty="0"/>
          </a:p>
          <a:p>
            <a:pPr marL="177800" indent="-177800">
              <a:spcAft>
                <a:spcPts val="800"/>
              </a:spcAft>
              <a:buSzPct val="100000"/>
              <a:buChar char="•"/>
            </a:pPr>
            <a:r>
              <a:rPr lang="en-US" sz="1300" dirty="0">
                <a:solidFill>
                  <a:srgbClr val="1A1A1A"/>
                </a:solidFill>
                <a:latin typeface="Calibri" pitchFamily="34" charset="0"/>
                <a:ea typeface="Calibri" pitchFamily="34" charset="-122"/>
                <a:cs typeface="Calibri" pitchFamily="34" charset="-120"/>
              </a:rPr>
              <a:t>The hard constraint is latency: the Level-1 trigger decides in O(100 ns). Govorkova et al. (2022) compiled an autoencoder onto an FPGA, running anomaly detection in hardware at the full collision rate.</a:t>
            </a:r>
            <a:endParaRPr lang="en-US" sz="1300" dirty="0"/>
          </a:p>
        </p:txBody>
      </p:sp>
      <p:sp>
        <p:nvSpPr>
          <p:cNvPr id="10" name="Shape 6"/>
          <p:cNvSpPr/>
          <p:nvPr/>
        </p:nvSpPr>
        <p:spPr>
          <a:xfrm>
            <a:off x="566928" y="4873752"/>
            <a:ext cx="5486400" cy="868680"/>
          </a:xfrm>
          <a:prstGeom prst="roundRect">
            <a:avLst>
              <a:gd name="adj" fmla="val 6316"/>
            </a:avLst>
          </a:prstGeom>
          <a:solidFill>
            <a:srgbClr val="F7EFEE"/>
          </a:solidFill>
          <a:ln/>
          <a:effectLst>
            <a:outerShdw sx="100000" sy="100000" kx="0" ky="0" algn="bl" rotWithShape="0" blurRad="63500" dist="38100" dir="5400000">
              <a:srgbClr val="000000">
                <a:alpha val="10000"/>
              </a:srgbClr>
            </a:outerShdw>
          </a:effectLst>
        </p:spPr>
      </p:sp>
      <p:sp>
        <p:nvSpPr>
          <p:cNvPr id="11" name="Shape 7"/>
          <p:cNvSpPr/>
          <p:nvPr/>
        </p:nvSpPr>
        <p:spPr>
          <a:xfrm>
            <a:off x="713232" y="5010912"/>
            <a:ext cx="577901" cy="274320"/>
          </a:xfrm>
          <a:prstGeom prst="roundRect">
            <a:avLst>
              <a:gd name="adj" fmla="val 13333"/>
            </a:avLst>
          </a:prstGeom>
          <a:solidFill>
            <a:srgbClr val="B85042"/>
          </a:solidFill>
          <a:ln/>
        </p:spPr>
      </p:sp>
      <p:sp>
        <p:nvSpPr>
          <p:cNvPr id="12" name="Text 8"/>
          <p:cNvSpPr/>
          <p:nvPr/>
        </p:nvSpPr>
        <p:spPr>
          <a:xfrm>
            <a:off x="713232" y="5010912"/>
            <a:ext cx="577901" cy="27432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GOTCHA</a:t>
            </a:r>
            <a:endParaRPr lang="en-US" sz="1050" dirty="0"/>
          </a:p>
        </p:txBody>
      </p:sp>
      <p:sp>
        <p:nvSpPr>
          <p:cNvPr id="13" name="Text 9"/>
          <p:cNvSpPr/>
          <p:nvPr/>
        </p:nvSpPr>
        <p:spPr>
          <a:xfrm>
            <a:off x="713232" y="5321808"/>
            <a:ext cx="5193792" cy="320040"/>
          </a:xfrm>
          <a:prstGeom prst="rect">
            <a:avLst/>
          </a:prstGeom>
          <a:noFill/>
          <a:ln/>
        </p:spPr>
        <p:txBody>
          <a:bodyPr wrap="square" lIns="0" tIns="0" rIns="0" bIns="0" rtlCol="0" anchor="t"/>
          <a:lstStyle/>
          <a:p>
            <a:pPr indent="0" marL="0">
              <a:lnSpc>
                <a:spcPct val="102000"/>
              </a:lnSpc>
              <a:buNone/>
            </a:pPr>
            <a:r>
              <a:rPr lang="en-US" sz="1200" i="1" dirty="0">
                <a:solidFill>
                  <a:srgbClr val="2A2A2A"/>
                </a:solidFill>
                <a:latin typeface="Calibri" pitchFamily="34" charset="0"/>
                <a:ea typeface="Calibri" pitchFamily="34" charset="-122"/>
                <a:cs typeface="Calibri" pitchFamily="34" charset="-120"/>
              </a:rPr>
              <a:t>Same caveat as the astro search: VAE likelihoods are unreliable OOD (Nalisnick 2019). Reconstruction error + background-only training + mass-decorrelation are what make the trigger robust.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065A82"/>
                </a:solidFill>
                <a:latin typeface="Calibri" pitchFamily="34" charset="0"/>
                <a:ea typeface="Calibri" pitchFamily="34" charset="-122"/>
                <a:cs typeface="Calibri" pitchFamily="34" charset="-120"/>
              </a:rPr>
              <a:t>PARTICLE PHYSICS · PAPER IN DETAIL</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Autoencoders on FPGAs at 40 MHz — Govorkova et al. 2022</a:t>
            </a:r>
            <a:endParaRPr lang="en-US" sz="2900" dirty="0"/>
          </a:p>
        </p:txBody>
      </p:sp>
      <p:sp>
        <p:nvSpPr>
          <p:cNvPr id="4" name="Shape 2"/>
          <p:cNvSpPr/>
          <p:nvPr/>
        </p:nvSpPr>
        <p:spPr>
          <a:xfrm>
            <a:off x="11057839" y="457200"/>
            <a:ext cx="566928" cy="566928"/>
          </a:xfrm>
          <a:prstGeom prst="ellipse">
            <a:avLst/>
          </a:prstGeom>
          <a:solidFill>
            <a:srgbClr val="065A82"/>
          </a:solidFill>
          <a:ln/>
        </p:spPr>
      </p:sp>
      <p:sp>
        <p:nvSpPr>
          <p:cNvPr id="5" name="Text 3"/>
          <p:cNvSpPr/>
          <p:nvPr/>
        </p:nvSpPr>
        <p:spPr>
          <a:xfrm>
            <a:off x="11057839" y="45720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6" name="Text 4"/>
          <p:cNvSpPr/>
          <p:nvPr/>
        </p:nvSpPr>
        <p:spPr>
          <a:xfrm>
            <a:off x="566928" y="1609344"/>
            <a:ext cx="11057839" cy="292608"/>
          </a:xfrm>
          <a:prstGeom prst="rect">
            <a:avLst/>
          </a:prstGeom>
          <a:noFill/>
          <a:ln/>
        </p:spPr>
        <p:txBody>
          <a:bodyPr wrap="square" lIns="0" tIns="0" rIns="0" bIns="0" rtlCol="0" anchor="ctr"/>
          <a:lstStyle/>
          <a:p>
            <a:pPr indent="0" marL="0">
              <a:buNone/>
            </a:pPr>
            <a:r>
              <a:rPr lang="en-US" sz="1150" i="1" dirty="0">
                <a:solidFill>
                  <a:srgbClr val="6E6358"/>
                </a:solidFill>
                <a:latin typeface="Calibri" pitchFamily="34" charset="0"/>
                <a:ea typeface="Calibri" pitchFamily="34" charset="-122"/>
                <a:cs typeface="Calibri" pitchFamily="34" charset="-120"/>
              </a:rPr>
              <a:t>Govorkova, Puljak, Aarrestad, Pierini, Ngadiuba, Nguyen et al. · Nature Machine Intelligence 4:154 (2022) · arXiv:2108.03986</a:t>
            </a:r>
            <a:endParaRPr lang="en-US" sz="1150" dirty="0"/>
          </a:p>
        </p:txBody>
      </p:sp>
      <p:pic>
        <p:nvPicPr>
          <p:cNvPr id="7" name="Image 0" descr="/home/claude/deck/../assets/p_govorkova.png">    </p:cNvPr>
          <p:cNvPicPr>
            <a:picLocks noChangeAspect="1"/>
          </p:cNvPicPr>
          <p:nvPr/>
        </p:nvPicPr>
        <p:blipFill>
          <a:blip r:embed="rId1"/>
          <a:stretch>
            <a:fillRect/>
          </a:stretch>
        </p:blipFill>
        <p:spPr>
          <a:xfrm>
            <a:off x="566928" y="2094155"/>
            <a:ext cx="5623560" cy="3675529"/>
          </a:xfrm>
          <a:prstGeom prst="rect">
            <a:avLst/>
          </a:prstGeom>
        </p:spPr>
      </p:pic>
      <p:sp>
        <p:nvSpPr>
          <p:cNvPr id="8" name="Text 5"/>
          <p:cNvSpPr/>
          <p:nvPr/>
        </p:nvSpPr>
        <p:spPr>
          <a:xfrm>
            <a:off x="6483096" y="2029968"/>
            <a:ext cx="5141671" cy="320040"/>
          </a:xfrm>
          <a:prstGeom prst="rect">
            <a:avLst/>
          </a:prstGeom>
          <a:noFill/>
          <a:ln/>
        </p:spPr>
        <p:txBody>
          <a:bodyPr wrap="square" lIns="0" tIns="0" rIns="0" bIns="0"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What the paper shows</a:t>
            </a:r>
            <a:endParaRPr lang="en-US" sz="1500" dirty="0"/>
          </a:p>
        </p:txBody>
      </p:sp>
      <p:sp>
        <p:nvSpPr>
          <p:cNvPr id="9" name="Text 6"/>
          <p:cNvSpPr/>
          <p:nvPr/>
        </p:nvSpPr>
        <p:spPr>
          <a:xfrm>
            <a:off x="6483096" y="2468880"/>
            <a:ext cx="5141671" cy="233172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Inference in as little as 80 ns using under 3% of the logic on a Xilinx Virtex VU9P.</a:t>
            </a:r>
            <a:endParaRPr lang="en-US" sz="1250" dirty="0"/>
          </a:p>
          <a:p>
            <a:pPr marL="177800" indent="-1778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New-physics signatures enhanced by ~three orders of magnitude — within the trigger's strict latency and resource budget.</a:t>
            </a:r>
            <a:endParaRPr lang="en-US" sz="1250" dirty="0"/>
          </a:p>
          <a:p>
            <a:pPr marL="177800" indent="-177800">
              <a:spcAft>
                <a:spcPts val="800"/>
              </a:spcAft>
              <a:buSzPct val="100000"/>
              <a:buChar char="•"/>
            </a:pPr>
            <a:r>
              <a:rPr lang="en-US" sz="1250" dirty="0">
                <a:solidFill>
                  <a:srgbClr val="1A1A1A"/>
                </a:solidFill>
                <a:latin typeface="Calibri" pitchFamily="34" charset="0"/>
                <a:ea typeface="Calibri" pitchFamily="34" charset="-122"/>
                <a:cs typeface="Calibri" pitchFamily="34" charset="-120"/>
              </a:rPr>
              <a:t>Opens the way to collecting new-physics-enriched datasets during live LHC running.</a:t>
            </a:r>
            <a:endParaRPr lang="en-US" sz="1250" dirty="0"/>
          </a:p>
        </p:txBody>
      </p:sp>
      <p:sp>
        <p:nvSpPr>
          <p:cNvPr id="10" name="Shape 7"/>
          <p:cNvSpPr/>
          <p:nvPr/>
        </p:nvSpPr>
        <p:spPr>
          <a:xfrm>
            <a:off x="6483096" y="4892040"/>
            <a:ext cx="5141671" cy="914400"/>
          </a:xfrm>
          <a:prstGeom prst="roundRect">
            <a:avLst>
              <a:gd name="adj" fmla="val 6000"/>
            </a:avLst>
          </a:prstGeom>
          <a:solidFill>
            <a:srgbClr val="EAF1F4"/>
          </a:solidFill>
          <a:ln/>
          <a:effectLst>
            <a:outerShdw sx="100000" sy="100000" kx="0" ky="0" algn="bl" rotWithShape="0" blurRad="63500" dist="38100" dir="5400000">
              <a:srgbClr val="000000">
                <a:alpha val="10000"/>
              </a:srgbClr>
            </a:outerShdw>
          </a:effectLst>
        </p:spPr>
      </p:sp>
      <p:sp>
        <p:nvSpPr>
          <p:cNvPr id="11" name="Text 8"/>
          <p:cNvSpPr/>
          <p:nvPr/>
        </p:nvSpPr>
        <p:spPr>
          <a:xfrm>
            <a:off x="6665976" y="4928616"/>
            <a:ext cx="4775911" cy="530352"/>
          </a:xfrm>
          <a:prstGeom prst="rect">
            <a:avLst/>
          </a:prstGeom>
          <a:noFill/>
          <a:ln/>
        </p:spPr>
        <p:txBody>
          <a:bodyPr wrap="square" lIns="0" tIns="0" rIns="0" bIns="0" rtlCol="0" anchor="ctr"/>
          <a:lstStyle/>
          <a:p>
            <a:pPr algn="l" indent="0" marL="0">
              <a:buNone/>
            </a:pPr>
            <a:r>
              <a:rPr lang="en-US" sz="3800" b="1" dirty="0">
                <a:solidFill>
                  <a:srgbClr val="065A82"/>
                </a:solidFill>
                <a:latin typeface="Cambria" pitchFamily="34" charset="0"/>
                <a:ea typeface="Cambria" pitchFamily="34" charset="-122"/>
                <a:cs typeface="Cambria" pitchFamily="34" charset="-120"/>
              </a:rPr>
              <a:t>80 ns</a:t>
            </a:r>
            <a:endParaRPr lang="en-US" sz="3800" dirty="0"/>
          </a:p>
        </p:txBody>
      </p:sp>
      <p:sp>
        <p:nvSpPr>
          <p:cNvPr id="12" name="Text 9"/>
          <p:cNvSpPr/>
          <p:nvPr/>
        </p:nvSpPr>
        <p:spPr>
          <a:xfrm>
            <a:off x="6684264" y="5458968"/>
            <a:ext cx="4775911" cy="310896"/>
          </a:xfrm>
          <a:prstGeom prst="rect">
            <a:avLst/>
          </a:prstGeom>
          <a:noFill/>
          <a:ln/>
        </p:spPr>
        <p:txBody>
          <a:bodyPr wrap="square" lIns="0" tIns="0" rIns="0" bIns="0" rtlCol="0" anchor="t"/>
          <a:lstStyle/>
          <a:p>
            <a:pPr algn="l" indent="0" marL="0">
              <a:lnSpc>
                <a:spcPct val="95000"/>
              </a:lnSpc>
              <a:buNone/>
            </a:pPr>
            <a:r>
              <a:rPr lang="en-US" sz="1050" i="1" dirty="0">
                <a:solidFill>
                  <a:srgbClr val="6E6358"/>
                </a:solidFill>
                <a:latin typeface="Calibri" pitchFamily="34" charset="0"/>
                <a:ea typeface="Calibri" pitchFamily="34" charset="-122"/>
                <a:cs typeface="Calibri" pitchFamily="34" charset="-120"/>
              </a:rPr>
              <a:t>L1-trigger inference, &lt; 3% FPGA logic</a:t>
            </a:r>
            <a:endParaRPr lang="en-US" sz="1050" dirty="0"/>
          </a:p>
        </p:txBody>
      </p:sp>
      <p:sp>
        <p:nvSpPr>
          <p:cNvPr id="13" name="Text 10"/>
          <p:cNvSpPr/>
          <p:nvPr/>
        </p:nvSpPr>
        <p:spPr>
          <a:xfrm>
            <a:off x="566928" y="5989320"/>
            <a:ext cx="11057839" cy="640080"/>
          </a:xfrm>
          <a:prstGeom prst="rect">
            <a:avLst/>
          </a:prstGeom>
          <a:noFill/>
          <a:ln/>
        </p:spPr>
        <p:txBody>
          <a:bodyPr wrap="square" lIns="0" tIns="0" rIns="0" bIns="0" rtlCol="0" anchor="t"/>
          <a:lstStyle/>
          <a:p>
            <a:pPr indent="0" marL="0">
              <a:lnSpc>
                <a:spcPct val="104000"/>
              </a:lnSpc>
              <a:buNone/>
            </a:pPr>
            <a:r>
              <a:rPr lang="en-US" sz="1250" b="1" dirty="0">
                <a:solidFill>
                  <a:srgbClr val="065A82"/>
                </a:solidFill>
                <a:latin typeface="Calibri" pitchFamily="34" charset="0"/>
                <a:ea typeface="Calibri" pitchFamily="34" charset="-122"/>
                <a:cs typeface="Calibri" pitchFamily="34" charset="-120"/>
              </a:rPr>
              <a:t>Why it matters:  </a:t>
            </a:r>
            <a:pPr indent="0" marL="0">
              <a:lnSpc>
                <a:spcPct val="104000"/>
              </a:lnSpc>
              <a:buNone/>
            </a:pPr>
            <a:r>
              <a:rPr lang="en-US" sz="1250" i="1" dirty="0">
                <a:solidFill>
                  <a:srgbClr val="33312E"/>
                </a:solidFill>
                <a:latin typeface="Calibri" pitchFamily="34" charset="0"/>
                <a:ea typeface="Calibri" pitchFamily="34" charset="-122"/>
                <a:cs typeface="Calibri" pitchFamily="34" charset="-120"/>
              </a:rPr>
              <a:t>The manifold idea under a hardware stopwatch: reconstruction / latent error as the anomaly score, computed in real time, lets the LHC keep potential new-physics events it would otherwise throw away.</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2733"/>
        </a:solidFill>
      </p:bgPr>
    </p:bg>
    <p:spTree>
      <p:nvGrpSpPr>
        <p:cNvPr id="1" name=""/>
        <p:cNvGrpSpPr/>
        <p:nvPr/>
      </p:nvGrpSpPr>
      <p:grpSpPr>
        <a:xfrm>
          <a:off x="0" y="0"/>
          <a:ext cx="0" cy="0"/>
          <a:chOff x="0" y="0"/>
          <a:chExt cx="0" cy="0"/>
        </a:xfrm>
      </p:grpSpPr>
      <p:sp>
        <p:nvSpPr>
          <p:cNvPr id="2" name="Text 0"/>
          <p:cNvSpPr/>
          <p:nvPr/>
        </p:nvSpPr>
        <p:spPr>
          <a:xfrm>
            <a:off x="566928" y="502920"/>
            <a:ext cx="7315200" cy="365760"/>
          </a:xfrm>
          <a:prstGeom prst="rect">
            <a:avLst/>
          </a:prstGeom>
          <a:noFill/>
          <a:ln/>
        </p:spPr>
        <p:txBody>
          <a:bodyPr wrap="square" lIns="0" tIns="0" rIns="0" bIns="0" rtlCol="0" anchor="ctr"/>
          <a:lstStyle/>
          <a:p>
            <a:pPr indent="0" marL="0">
              <a:buNone/>
            </a:pPr>
            <a:r>
              <a:rPr lang="en-US" sz="1300" b="1" spc="300" kern="0" dirty="0">
                <a:solidFill>
                  <a:srgbClr val="B85042"/>
                </a:solidFill>
                <a:latin typeface="Calibri" pitchFamily="34" charset="0"/>
                <a:ea typeface="Calibri" pitchFamily="34" charset="-122"/>
                <a:cs typeface="Calibri" pitchFamily="34" charset="-120"/>
              </a:rPr>
              <a:t>THE THROUGH-LINE</a:t>
            </a:r>
            <a:endParaRPr lang="en-US" sz="1300" dirty="0"/>
          </a:p>
        </p:txBody>
      </p:sp>
      <p:sp>
        <p:nvSpPr>
          <p:cNvPr id="3" name="Text 1"/>
          <p:cNvSpPr/>
          <p:nvPr/>
        </p:nvSpPr>
        <p:spPr>
          <a:xfrm>
            <a:off x="566928" y="86868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to keep</a:t>
            </a:r>
            <a:endParaRPr lang="en-US" sz="3400" dirty="0"/>
          </a:p>
        </p:txBody>
      </p:sp>
      <p:sp>
        <p:nvSpPr>
          <p:cNvPr id="4" name="Text 2"/>
          <p:cNvSpPr/>
          <p:nvPr/>
        </p:nvSpPr>
        <p:spPr>
          <a:xfrm>
            <a:off x="566928" y="1874520"/>
            <a:ext cx="457200" cy="457200"/>
          </a:xfrm>
          <a:prstGeom prst="rect">
            <a:avLst/>
          </a:prstGeom>
          <a:noFill/>
          <a:ln/>
        </p:spPr>
        <p:txBody>
          <a:bodyPr wrap="square" lIns="0" tIns="0" rIns="0" bIns="0" rtlCol="0" anchor="t"/>
          <a:lstStyle/>
          <a:p>
            <a:pPr algn="ctr" indent="0" marL="0">
              <a:buNone/>
            </a:pPr>
            <a:r>
              <a:rPr lang="en-US" sz="2200" b="1" dirty="0">
                <a:solidFill>
                  <a:srgbClr val="B85042"/>
                </a:solidFill>
                <a:latin typeface="Cambria" pitchFamily="34" charset="0"/>
                <a:ea typeface="Cambria" pitchFamily="34" charset="-122"/>
                <a:cs typeface="Cambria" pitchFamily="34" charset="-120"/>
              </a:rPr>
              <a:t>1</a:t>
            </a:r>
            <a:endParaRPr lang="en-US" sz="2200" dirty="0"/>
          </a:p>
        </p:txBody>
      </p:sp>
      <p:sp>
        <p:nvSpPr>
          <p:cNvPr id="5" name="Text 3"/>
          <p:cNvSpPr/>
          <p:nvPr/>
        </p:nvSpPr>
        <p:spPr>
          <a:xfrm>
            <a:off x="1069848" y="1874520"/>
            <a:ext cx="4983480" cy="987552"/>
          </a:xfrm>
          <a:prstGeom prst="rect">
            <a:avLst/>
          </a:prstGeom>
          <a:noFill/>
          <a:ln/>
        </p:spPr>
        <p:txBody>
          <a:bodyPr wrap="square" lIns="0" tIns="0" rIns="0" bIns="0" rtlCol="0" anchor="t"/>
          <a:lstStyle/>
          <a:p>
            <a:pPr indent="0" marL="0">
              <a:lnSpc>
                <a:spcPct val="103000"/>
              </a:lnSpc>
              <a:buNone/>
            </a:pPr>
            <a:r>
              <a:rPr lang="en-US" sz="1350" b="1" dirty="0">
                <a:solidFill>
                  <a:srgbClr val="FFFFFF"/>
                </a:solidFill>
                <a:latin typeface="Calibri" pitchFamily="34" charset="0"/>
                <a:ea typeface="Calibri" pitchFamily="34" charset="-122"/>
                <a:cs typeface="Calibri" pitchFamily="34" charset="-120"/>
              </a:rPr>
              <a:t>Data lives on a low-D manifold.  </a:t>
            </a:r>
            <a:pPr indent="0" marL="0">
              <a:lnSpc>
                <a:spcPct val="103000"/>
              </a:lnSpc>
              <a:buNone/>
            </a:pPr>
            <a:r>
              <a:rPr lang="en-US" sz="1350" dirty="0">
                <a:solidFill>
                  <a:srgbClr val="C8D8DE"/>
                </a:solidFill>
                <a:latin typeface="Calibri" pitchFamily="34" charset="0"/>
                <a:ea typeface="Calibri" pitchFamily="34" charset="-122"/>
                <a:cs typeface="Calibri" pitchFamily="34" charset="-120"/>
              </a:rPr>
              <a:t>The autoencoder is the device that finds it — compress, represent, generate.</a:t>
            </a:r>
            <a:endParaRPr lang="en-US" sz="1350" dirty="0"/>
          </a:p>
        </p:txBody>
      </p:sp>
      <p:sp>
        <p:nvSpPr>
          <p:cNvPr id="6" name="Text 4"/>
          <p:cNvSpPr/>
          <p:nvPr/>
        </p:nvSpPr>
        <p:spPr>
          <a:xfrm>
            <a:off x="566928" y="2953512"/>
            <a:ext cx="457200" cy="457200"/>
          </a:xfrm>
          <a:prstGeom prst="rect">
            <a:avLst/>
          </a:prstGeom>
          <a:noFill/>
          <a:ln/>
        </p:spPr>
        <p:txBody>
          <a:bodyPr wrap="square" lIns="0" tIns="0" rIns="0" bIns="0" rtlCol="0" anchor="t"/>
          <a:lstStyle/>
          <a:p>
            <a:pPr algn="ctr" indent="0" marL="0">
              <a:buNone/>
            </a:pPr>
            <a:r>
              <a:rPr lang="en-US" sz="2200" b="1" dirty="0">
                <a:solidFill>
                  <a:srgbClr val="B85042"/>
                </a:solidFill>
                <a:latin typeface="Cambria" pitchFamily="34" charset="0"/>
                <a:ea typeface="Cambria" pitchFamily="34" charset="-122"/>
                <a:cs typeface="Cambria" pitchFamily="34" charset="-120"/>
              </a:rPr>
              <a:t>2</a:t>
            </a:r>
            <a:endParaRPr lang="en-US" sz="2200" dirty="0"/>
          </a:p>
        </p:txBody>
      </p:sp>
      <p:sp>
        <p:nvSpPr>
          <p:cNvPr id="7" name="Text 5"/>
          <p:cNvSpPr/>
          <p:nvPr/>
        </p:nvSpPr>
        <p:spPr>
          <a:xfrm>
            <a:off x="1069848" y="2953512"/>
            <a:ext cx="4983480" cy="987552"/>
          </a:xfrm>
          <a:prstGeom prst="rect">
            <a:avLst/>
          </a:prstGeom>
          <a:noFill/>
          <a:ln/>
        </p:spPr>
        <p:txBody>
          <a:bodyPr wrap="square" lIns="0" tIns="0" rIns="0" bIns="0" rtlCol="0" anchor="t"/>
          <a:lstStyle/>
          <a:p>
            <a:pPr indent="0" marL="0">
              <a:lnSpc>
                <a:spcPct val="103000"/>
              </a:lnSpc>
              <a:buNone/>
            </a:pPr>
            <a:r>
              <a:rPr lang="en-US" sz="1350" b="1" dirty="0">
                <a:solidFill>
                  <a:srgbClr val="FFFFFF"/>
                </a:solidFill>
                <a:latin typeface="Calibri" pitchFamily="34" charset="0"/>
                <a:ea typeface="Calibri" pitchFamily="34" charset="-122"/>
                <a:cs typeface="Calibri" pitchFamily="34" charset="-120"/>
              </a:rPr>
              <a:t>Linear = PCA.  </a:t>
            </a:r>
            <a:pPr indent="0" marL="0">
              <a:lnSpc>
                <a:spcPct val="103000"/>
              </a:lnSpc>
              <a:buNone/>
            </a:pPr>
            <a:r>
              <a:rPr lang="en-US" sz="1350" dirty="0">
                <a:solidFill>
                  <a:srgbClr val="C8D8DE"/>
                </a:solidFill>
                <a:latin typeface="Calibri" pitchFamily="34" charset="0"/>
                <a:ea typeface="Calibri" pitchFamily="34" charset="-122"/>
                <a:cs typeface="Calibri" pitchFamily="34" charset="-120"/>
              </a:rPr>
              <a:t>Truncated-SVD subspace; every local min global; the axes are not identified.</a:t>
            </a:r>
            <a:endParaRPr lang="en-US" sz="1350" dirty="0"/>
          </a:p>
        </p:txBody>
      </p:sp>
      <p:sp>
        <p:nvSpPr>
          <p:cNvPr id="8" name="Text 6"/>
          <p:cNvSpPr/>
          <p:nvPr/>
        </p:nvSpPr>
        <p:spPr>
          <a:xfrm>
            <a:off x="566928" y="4032504"/>
            <a:ext cx="457200" cy="457200"/>
          </a:xfrm>
          <a:prstGeom prst="rect">
            <a:avLst/>
          </a:prstGeom>
          <a:noFill/>
          <a:ln/>
        </p:spPr>
        <p:txBody>
          <a:bodyPr wrap="square" lIns="0" tIns="0" rIns="0" bIns="0" rtlCol="0" anchor="t"/>
          <a:lstStyle/>
          <a:p>
            <a:pPr algn="ctr" indent="0" marL="0">
              <a:buNone/>
            </a:pPr>
            <a:r>
              <a:rPr lang="en-US" sz="2200" b="1" dirty="0">
                <a:solidFill>
                  <a:srgbClr val="B85042"/>
                </a:solidFill>
                <a:latin typeface="Cambria" pitchFamily="34" charset="0"/>
                <a:ea typeface="Cambria" pitchFamily="34" charset="-122"/>
                <a:cs typeface="Cambria" pitchFamily="34" charset="-120"/>
              </a:rPr>
              <a:t>3</a:t>
            </a:r>
            <a:endParaRPr lang="en-US" sz="2200" dirty="0"/>
          </a:p>
        </p:txBody>
      </p:sp>
      <p:sp>
        <p:nvSpPr>
          <p:cNvPr id="9" name="Text 7"/>
          <p:cNvSpPr/>
          <p:nvPr/>
        </p:nvSpPr>
        <p:spPr>
          <a:xfrm>
            <a:off x="1069848" y="4032504"/>
            <a:ext cx="4983480" cy="987552"/>
          </a:xfrm>
          <a:prstGeom prst="rect">
            <a:avLst/>
          </a:prstGeom>
          <a:noFill/>
          <a:ln/>
        </p:spPr>
        <p:txBody>
          <a:bodyPr wrap="square" lIns="0" tIns="0" rIns="0" bIns="0" rtlCol="0" anchor="t"/>
          <a:lstStyle/>
          <a:p>
            <a:pPr indent="0" marL="0">
              <a:lnSpc>
                <a:spcPct val="103000"/>
              </a:lnSpc>
              <a:buNone/>
            </a:pPr>
            <a:r>
              <a:rPr lang="en-US" sz="1350" b="1" dirty="0">
                <a:solidFill>
                  <a:srgbClr val="FFFFFF"/>
                </a:solidFill>
                <a:latin typeface="Calibri" pitchFamily="34" charset="0"/>
                <a:ea typeface="Calibri" pitchFamily="34" charset="-122"/>
                <a:cs typeface="Calibri" pitchFamily="34" charset="-120"/>
              </a:rPr>
              <a:t>Nonlinearity unrolls curved manifolds.  </a:t>
            </a:r>
            <a:pPr indent="0" marL="0">
              <a:lnSpc>
                <a:spcPct val="103000"/>
              </a:lnSpc>
              <a:buNone/>
            </a:pPr>
            <a:r>
              <a:rPr lang="en-US" sz="1350" dirty="0">
                <a:solidFill>
                  <a:srgbClr val="C8D8DE"/>
                </a:solidFill>
                <a:latin typeface="Calibri" pitchFamily="34" charset="0"/>
                <a:ea typeface="Calibri" pitchFamily="34" charset="-122"/>
                <a:cs typeface="Calibri" pitchFamily="34" charset="-120"/>
              </a:rPr>
              <a:t>The Swiss roll — at the cost of a much larger symmetry, so harder identifiability.</a:t>
            </a:r>
            <a:endParaRPr lang="en-US" sz="1350" dirty="0"/>
          </a:p>
        </p:txBody>
      </p:sp>
      <p:sp>
        <p:nvSpPr>
          <p:cNvPr id="10" name="Text 8"/>
          <p:cNvSpPr/>
          <p:nvPr/>
        </p:nvSpPr>
        <p:spPr>
          <a:xfrm>
            <a:off x="566928" y="5111496"/>
            <a:ext cx="457200" cy="457200"/>
          </a:xfrm>
          <a:prstGeom prst="rect">
            <a:avLst/>
          </a:prstGeom>
          <a:noFill/>
          <a:ln/>
        </p:spPr>
        <p:txBody>
          <a:bodyPr wrap="square" lIns="0" tIns="0" rIns="0" bIns="0" rtlCol="0" anchor="t"/>
          <a:lstStyle/>
          <a:p>
            <a:pPr algn="ctr" indent="0" marL="0">
              <a:buNone/>
            </a:pPr>
            <a:r>
              <a:rPr lang="en-US" sz="2200" b="1" dirty="0">
                <a:solidFill>
                  <a:srgbClr val="B85042"/>
                </a:solidFill>
                <a:latin typeface="Cambria" pitchFamily="34" charset="0"/>
                <a:ea typeface="Cambria" pitchFamily="34" charset="-122"/>
                <a:cs typeface="Cambria" pitchFamily="34" charset="-120"/>
              </a:rPr>
              <a:t>4</a:t>
            </a:r>
            <a:endParaRPr lang="en-US" sz="2200" dirty="0"/>
          </a:p>
        </p:txBody>
      </p:sp>
      <p:sp>
        <p:nvSpPr>
          <p:cNvPr id="11" name="Text 9"/>
          <p:cNvSpPr/>
          <p:nvPr/>
        </p:nvSpPr>
        <p:spPr>
          <a:xfrm>
            <a:off x="1069848" y="5111496"/>
            <a:ext cx="4983480" cy="987552"/>
          </a:xfrm>
          <a:prstGeom prst="rect">
            <a:avLst/>
          </a:prstGeom>
          <a:noFill/>
          <a:ln/>
        </p:spPr>
        <p:txBody>
          <a:bodyPr wrap="square" lIns="0" tIns="0" rIns="0" bIns="0" rtlCol="0" anchor="t"/>
          <a:lstStyle/>
          <a:p>
            <a:pPr indent="0" marL="0">
              <a:lnSpc>
                <a:spcPct val="103000"/>
              </a:lnSpc>
              <a:buNone/>
            </a:pPr>
            <a:r>
              <a:rPr lang="en-US" sz="1350" b="1" dirty="0">
                <a:solidFill>
                  <a:srgbClr val="FFFFFF"/>
                </a:solidFill>
                <a:latin typeface="Calibri" pitchFamily="34" charset="0"/>
                <a:ea typeface="Calibri" pitchFamily="34" charset="-122"/>
                <a:cs typeface="Calibri" pitchFamily="34" charset="-120"/>
              </a:rPr>
              <a:t>Three regularizers, one goal.  </a:t>
            </a:r>
            <a:pPr indent="0" marL="0">
              <a:lnSpc>
                <a:spcPct val="103000"/>
              </a:lnSpc>
              <a:buNone/>
            </a:pPr>
            <a:r>
              <a:rPr lang="en-US" sz="1350" dirty="0">
                <a:solidFill>
                  <a:srgbClr val="C8D8DE"/>
                </a:solidFill>
                <a:latin typeface="Calibri" pitchFamily="34" charset="0"/>
                <a:ea typeface="Calibri" pitchFamily="34" charset="-122"/>
                <a:cs typeface="Calibri" pitchFamily="34" charset="-120"/>
              </a:rPr>
              <a:t>Sparse · denoising · contractive all say: be blind to the normal directions.</a:t>
            </a:r>
            <a:endParaRPr lang="en-US" sz="1350" dirty="0"/>
          </a:p>
        </p:txBody>
      </p:sp>
      <p:sp>
        <p:nvSpPr>
          <p:cNvPr id="12" name="Text 10"/>
          <p:cNvSpPr/>
          <p:nvPr/>
        </p:nvSpPr>
        <p:spPr>
          <a:xfrm>
            <a:off x="6510528" y="1874520"/>
            <a:ext cx="457200" cy="457200"/>
          </a:xfrm>
          <a:prstGeom prst="rect">
            <a:avLst/>
          </a:prstGeom>
          <a:noFill/>
          <a:ln/>
        </p:spPr>
        <p:txBody>
          <a:bodyPr wrap="square" lIns="0" tIns="0" rIns="0" bIns="0" rtlCol="0" anchor="t"/>
          <a:lstStyle/>
          <a:p>
            <a:pPr algn="ctr" indent="0" marL="0">
              <a:buNone/>
            </a:pPr>
            <a:r>
              <a:rPr lang="en-US" sz="2200" b="1" dirty="0">
                <a:solidFill>
                  <a:srgbClr val="B85042"/>
                </a:solidFill>
                <a:latin typeface="Cambria" pitchFamily="34" charset="0"/>
                <a:ea typeface="Cambria" pitchFamily="34" charset="-122"/>
                <a:cs typeface="Cambria" pitchFamily="34" charset="-120"/>
              </a:rPr>
              <a:t>5</a:t>
            </a:r>
            <a:endParaRPr lang="en-US" sz="2200" dirty="0"/>
          </a:p>
        </p:txBody>
      </p:sp>
      <p:sp>
        <p:nvSpPr>
          <p:cNvPr id="13" name="Text 11"/>
          <p:cNvSpPr/>
          <p:nvPr/>
        </p:nvSpPr>
        <p:spPr>
          <a:xfrm>
            <a:off x="7013448" y="1874520"/>
            <a:ext cx="4983480" cy="987552"/>
          </a:xfrm>
          <a:prstGeom prst="rect">
            <a:avLst/>
          </a:prstGeom>
          <a:noFill/>
          <a:ln/>
        </p:spPr>
        <p:txBody>
          <a:bodyPr wrap="square" lIns="0" tIns="0" rIns="0" bIns="0" rtlCol="0" anchor="t"/>
          <a:lstStyle/>
          <a:p>
            <a:pPr indent="0" marL="0">
              <a:lnSpc>
                <a:spcPct val="103000"/>
              </a:lnSpc>
              <a:buNone/>
            </a:pPr>
            <a:r>
              <a:rPr lang="en-US" sz="1350" b="1" dirty="0">
                <a:solidFill>
                  <a:srgbClr val="FFFFFF"/>
                </a:solidFill>
                <a:latin typeface="Calibri" pitchFamily="34" charset="0"/>
                <a:ea typeface="Calibri" pitchFamily="34" charset="-122"/>
                <a:cs typeface="Calibri" pitchFamily="34" charset="-120"/>
              </a:rPr>
              <a:t>Denoising = the score; ≈ contractive.  </a:t>
            </a:r>
            <a:pPr indent="0" marL="0">
              <a:lnSpc>
                <a:spcPct val="103000"/>
              </a:lnSpc>
              <a:buNone/>
            </a:pPr>
            <a:r>
              <a:rPr lang="en-US" sz="1350" dirty="0">
                <a:solidFill>
                  <a:srgbClr val="C8D8DE"/>
                </a:solidFill>
                <a:latin typeface="Calibri" pitchFamily="34" charset="0"/>
                <a:ea typeface="Calibri" pitchFamily="34" charset="-122"/>
                <a:cs typeface="Calibri" pitchFamily="34" charset="-120"/>
              </a:rPr>
              <a:t>DAEs learn ∇log p (→ diffusion); small-σ denoising equals a Jacobian penalty.</a:t>
            </a:r>
            <a:endParaRPr lang="en-US" sz="1350" dirty="0"/>
          </a:p>
        </p:txBody>
      </p:sp>
      <p:sp>
        <p:nvSpPr>
          <p:cNvPr id="14" name="Text 12"/>
          <p:cNvSpPr/>
          <p:nvPr/>
        </p:nvSpPr>
        <p:spPr>
          <a:xfrm>
            <a:off x="6510528" y="2953512"/>
            <a:ext cx="457200" cy="457200"/>
          </a:xfrm>
          <a:prstGeom prst="rect">
            <a:avLst/>
          </a:prstGeom>
          <a:noFill/>
          <a:ln/>
        </p:spPr>
        <p:txBody>
          <a:bodyPr wrap="square" lIns="0" tIns="0" rIns="0" bIns="0" rtlCol="0" anchor="t"/>
          <a:lstStyle/>
          <a:p>
            <a:pPr algn="ctr" indent="0" marL="0">
              <a:buNone/>
            </a:pPr>
            <a:r>
              <a:rPr lang="en-US" sz="2200" b="1" dirty="0">
                <a:solidFill>
                  <a:srgbClr val="B85042"/>
                </a:solidFill>
                <a:latin typeface="Cambria" pitchFamily="34" charset="0"/>
                <a:ea typeface="Cambria" pitchFamily="34" charset="-122"/>
                <a:cs typeface="Cambria" pitchFamily="34" charset="-120"/>
              </a:rPr>
              <a:t>6</a:t>
            </a:r>
            <a:endParaRPr lang="en-US" sz="2200" dirty="0"/>
          </a:p>
        </p:txBody>
      </p:sp>
      <p:sp>
        <p:nvSpPr>
          <p:cNvPr id="15" name="Text 13"/>
          <p:cNvSpPr/>
          <p:nvPr/>
        </p:nvSpPr>
        <p:spPr>
          <a:xfrm>
            <a:off x="7013448" y="2953512"/>
            <a:ext cx="4983480" cy="987552"/>
          </a:xfrm>
          <a:prstGeom prst="rect">
            <a:avLst/>
          </a:prstGeom>
          <a:noFill/>
          <a:ln/>
        </p:spPr>
        <p:txBody>
          <a:bodyPr wrap="square" lIns="0" tIns="0" rIns="0" bIns="0" rtlCol="0" anchor="t"/>
          <a:lstStyle/>
          <a:p>
            <a:pPr indent="0" marL="0">
              <a:lnSpc>
                <a:spcPct val="103000"/>
              </a:lnSpc>
              <a:buNone/>
            </a:pPr>
            <a:r>
              <a:rPr lang="en-US" sz="1350" b="1" dirty="0">
                <a:solidFill>
                  <a:srgbClr val="FFFFFF"/>
                </a:solidFill>
                <a:latin typeface="Calibri" pitchFamily="34" charset="0"/>
                <a:ea typeface="Calibri" pitchFamily="34" charset="-122"/>
                <a:cs typeface="Calibri" pitchFamily="34" charset="-120"/>
              </a:rPr>
              <a:t>The VAE adds a prior + amortized posterior.  </a:t>
            </a:r>
            <a:pPr indent="0" marL="0">
              <a:lnSpc>
                <a:spcPct val="103000"/>
              </a:lnSpc>
              <a:buNone/>
            </a:pPr>
            <a:r>
              <a:rPr lang="en-US" sz="1350" dirty="0">
                <a:solidFill>
                  <a:srgbClr val="C8D8DE"/>
                </a:solidFill>
                <a:latin typeface="Calibri" pitchFamily="34" charset="0"/>
                <a:ea typeface="Calibri" pitchFamily="34" charset="-122"/>
                <a:cs typeface="Calibri" pitchFamily="34" charset="-120"/>
              </a:rPr>
              <a:t>A smooth, sample-able latent; β tunes the rate–distortion trade.</a:t>
            </a:r>
            <a:endParaRPr lang="en-US" sz="1350" dirty="0"/>
          </a:p>
        </p:txBody>
      </p:sp>
      <p:sp>
        <p:nvSpPr>
          <p:cNvPr id="16" name="Text 14"/>
          <p:cNvSpPr/>
          <p:nvPr/>
        </p:nvSpPr>
        <p:spPr>
          <a:xfrm>
            <a:off x="6510528" y="4032504"/>
            <a:ext cx="457200" cy="457200"/>
          </a:xfrm>
          <a:prstGeom prst="rect">
            <a:avLst/>
          </a:prstGeom>
          <a:noFill/>
          <a:ln/>
        </p:spPr>
        <p:txBody>
          <a:bodyPr wrap="square" lIns="0" tIns="0" rIns="0" bIns="0" rtlCol="0" anchor="t"/>
          <a:lstStyle/>
          <a:p>
            <a:pPr algn="ctr" indent="0" marL="0">
              <a:buNone/>
            </a:pPr>
            <a:r>
              <a:rPr lang="en-US" sz="2200" b="1" dirty="0">
                <a:solidFill>
                  <a:srgbClr val="B85042"/>
                </a:solidFill>
                <a:latin typeface="Cambria" pitchFamily="34" charset="0"/>
                <a:ea typeface="Cambria" pitchFamily="34" charset="-122"/>
                <a:cs typeface="Cambria" pitchFamily="34" charset="-120"/>
              </a:rPr>
              <a:t>7</a:t>
            </a:r>
            <a:endParaRPr lang="en-US" sz="2200" dirty="0"/>
          </a:p>
        </p:txBody>
      </p:sp>
      <p:sp>
        <p:nvSpPr>
          <p:cNvPr id="17" name="Text 15"/>
          <p:cNvSpPr/>
          <p:nvPr/>
        </p:nvSpPr>
        <p:spPr>
          <a:xfrm>
            <a:off x="7013448" y="4032504"/>
            <a:ext cx="4983480" cy="987552"/>
          </a:xfrm>
          <a:prstGeom prst="rect">
            <a:avLst/>
          </a:prstGeom>
          <a:noFill/>
          <a:ln/>
        </p:spPr>
        <p:txBody>
          <a:bodyPr wrap="square" lIns="0" tIns="0" rIns="0" bIns="0" rtlCol="0" anchor="t"/>
          <a:lstStyle/>
          <a:p>
            <a:pPr indent="0" marL="0">
              <a:lnSpc>
                <a:spcPct val="103000"/>
              </a:lnSpc>
              <a:buNone/>
            </a:pPr>
            <a:r>
              <a:rPr lang="en-US" sz="1350" b="1" dirty="0">
                <a:solidFill>
                  <a:srgbClr val="FFFFFF"/>
                </a:solidFill>
                <a:latin typeface="Calibri" pitchFamily="34" charset="0"/>
                <a:ea typeface="Calibri" pitchFamily="34" charset="-122"/>
                <a:cs typeface="Calibri" pitchFamily="34" charset="-120"/>
              </a:rPr>
              <a:t>In science, the AE is an instrument.  </a:t>
            </a:r>
            <a:pPr indent="0" marL="0">
              <a:lnSpc>
                <a:spcPct val="103000"/>
              </a:lnSpc>
              <a:buNone/>
            </a:pPr>
            <a:r>
              <a:rPr lang="en-US" sz="1350" dirty="0">
                <a:solidFill>
                  <a:srgbClr val="C8D8DE"/>
                </a:solidFill>
                <a:latin typeface="Calibri" pitchFamily="34" charset="0"/>
                <a:ea typeface="Calibri" pitchFamily="34" charset="-122"/>
                <a:cs typeface="Calibri" pitchFamily="34" charset="-120"/>
              </a:rPr>
              <a:t>Compress spectra, discover anomalies, deblend galaxies, hunt new physics — off-manifold = interesting.</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10143439" cy="274320"/>
          </a:xfrm>
          <a:prstGeom prst="rect">
            <a:avLst/>
          </a:prstGeom>
          <a:noFill/>
          <a:ln/>
        </p:spPr>
        <p:txBody>
          <a:bodyPr wrap="square" lIns="0" tIns="0" rIns="0" bIns="0" rtlCol="0" anchor="ctr"/>
          <a:lstStyle/>
          <a:p>
            <a:pPr indent="0" marL="0">
              <a:buNone/>
            </a:pPr>
            <a:r>
              <a:rPr lang="en-US" sz="1150" b="1" spc="200" kern="0" dirty="0">
                <a:solidFill>
                  <a:srgbClr val="6E6358"/>
                </a:solidFill>
                <a:latin typeface="Calibri" pitchFamily="34" charset="0"/>
                <a:ea typeface="Calibri" pitchFamily="34" charset="-122"/>
                <a:cs typeface="Calibri" pitchFamily="34" charset="-120"/>
              </a:rPr>
              <a:t>REFERENCES</a:t>
            </a:r>
            <a:endParaRPr lang="en-US" sz="1150" dirty="0"/>
          </a:p>
        </p:txBody>
      </p:sp>
      <p:sp>
        <p:nvSpPr>
          <p:cNvPr id="3" name="Text 1"/>
          <p:cNvSpPr/>
          <p:nvPr/>
        </p:nvSpPr>
        <p:spPr>
          <a:xfrm>
            <a:off x="566928" y="713232"/>
            <a:ext cx="10143439" cy="777240"/>
          </a:xfrm>
          <a:prstGeom prst="rect">
            <a:avLst/>
          </a:prstGeom>
          <a:noFill/>
          <a:ln/>
        </p:spPr>
        <p:txBody>
          <a:bodyPr wrap="square" lIns="0" tIns="0" rIns="0" bIns="0" rtlCol="0" anchor="t"/>
          <a:lstStyle/>
          <a:p>
            <a:pPr indent="0" marL="0">
              <a:buNone/>
            </a:pPr>
            <a:r>
              <a:rPr lang="en-US" sz="2900" b="1" dirty="0">
                <a:solidFill>
                  <a:srgbClr val="1A1A1A"/>
                </a:solidFill>
                <a:latin typeface="Cambria" pitchFamily="34" charset="0"/>
                <a:ea typeface="Cambria" pitchFamily="34" charset="-122"/>
                <a:cs typeface="Cambria" pitchFamily="34" charset="-120"/>
              </a:rPr>
              <a:t>Further reading</a:t>
            </a:r>
            <a:endParaRPr lang="en-US" sz="2900" dirty="0"/>
          </a:p>
        </p:txBody>
      </p:sp>
      <p:sp>
        <p:nvSpPr>
          <p:cNvPr id="4" name="Shape 2"/>
          <p:cNvSpPr/>
          <p:nvPr/>
        </p:nvSpPr>
        <p:spPr>
          <a:xfrm>
            <a:off x="566928" y="1755648"/>
            <a:ext cx="146304" cy="146304"/>
          </a:xfrm>
          <a:prstGeom prst="ellipse">
            <a:avLst/>
          </a:prstGeom>
          <a:solidFill>
            <a:srgbClr val="065A82"/>
          </a:solidFill>
          <a:ln/>
        </p:spPr>
      </p:sp>
      <p:sp>
        <p:nvSpPr>
          <p:cNvPr id="5" name="Text 3"/>
          <p:cNvSpPr/>
          <p:nvPr/>
        </p:nvSpPr>
        <p:spPr>
          <a:xfrm>
            <a:off x="822960" y="1664208"/>
            <a:ext cx="5044288" cy="320040"/>
          </a:xfrm>
          <a:prstGeom prst="rect">
            <a:avLst/>
          </a:prstGeom>
          <a:noFill/>
          <a:ln/>
        </p:spPr>
        <p:txBody>
          <a:bodyPr wrap="square" lIns="0" tIns="0" rIns="0" bIns="0" rtlCol="0" anchor="ctr"/>
          <a:lstStyle/>
          <a:p>
            <a:pPr indent="0" marL="0">
              <a:buNone/>
            </a:pPr>
            <a:r>
              <a:rPr lang="en-US" sz="1400" b="1" dirty="0">
                <a:solidFill>
                  <a:srgbClr val="065A82"/>
                </a:solidFill>
                <a:latin typeface="Cambria" pitchFamily="34" charset="0"/>
                <a:ea typeface="Cambria" pitchFamily="34" charset="-122"/>
                <a:cs typeface="Cambria" pitchFamily="34" charset="-120"/>
              </a:rPr>
              <a:t>Foundations</a:t>
            </a:r>
            <a:endParaRPr lang="en-US" sz="1400" dirty="0"/>
          </a:p>
        </p:txBody>
      </p:sp>
      <p:sp>
        <p:nvSpPr>
          <p:cNvPr id="6" name="Text 4"/>
          <p:cNvSpPr/>
          <p:nvPr/>
        </p:nvSpPr>
        <p:spPr>
          <a:xfrm>
            <a:off x="822960" y="1993392"/>
            <a:ext cx="5044288" cy="1051560"/>
          </a:xfrm>
          <a:prstGeom prst="rect">
            <a:avLst/>
          </a:prstGeom>
          <a:noFill/>
          <a:ln/>
        </p:spPr>
        <p:txBody>
          <a:bodyPr wrap="square" lIns="0" tIns="0" rIns="0" bIns="0" rtlCol="0" anchor="t"/>
          <a:lstStyle/>
          <a:p>
            <a:pPr indent="0" marL="0">
              <a:lnSpc>
                <a:spcPct val="105000"/>
              </a:lnSpc>
              <a:buNone/>
            </a:pPr>
            <a:r>
              <a:rPr lang="en-US" sz="1150" dirty="0">
                <a:solidFill>
                  <a:srgbClr val="4A4A4A"/>
                </a:solidFill>
                <a:latin typeface="Calibri" pitchFamily="34" charset="0"/>
                <a:ea typeface="Calibri" pitchFamily="34" charset="-122"/>
                <a:cs typeface="Calibri" pitchFamily="34" charset="-120"/>
              </a:rPr>
              <a:t>Eckart &amp; Young, Psychometrika (1936) · Baldi &amp; Hornik, Neural Networks (1989) · Hinton &amp; Salakhutdinov, Science (2006).</a:t>
            </a:r>
            <a:endParaRPr lang="en-US" sz="1150" dirty="0"/>
          </a:p>
        </p:txBody>
      </p:sp>
      <p:sp>
        <p:nvSpPr>
          <p:cNvPr id="7" name="Shape 5"/>
          <p:cNvSpPr/>
          <p:nvPr/>
        </p:nvSpPr>
        <p:spPr>
          <a:xfrm>
            <a:off x="6324448" y="1755648"/>
            <a:ext cx="146304" cy="146304"/>
          </a:xfrm>
          <a:prstGeom prst="ellipse">
            <a:avLst/>
          </a:prstGeom>
          <a:solidFill>
            <a:srgbClr val="8A6F1F"/>
          </a:solidFill>
          <a:ln/>
        </p:spPr>
      </p:sp>
      <p:sp>
        <p:nvSpPr>
          <p:cNvPr id="8" name="Text 6"/>
          <p:cNvSpPr/>
          <p:nvPr/>
        </p:nvSpPr>
        <p:spPr>
          <a:xfrm>
            <a:off x="6580480" y="1664208"/>
            <a:ext cx="5044288" cy="320040"/>
          </a:xfrm>
          <a:prstGeom prst="rect">
            <a:avLst/>
          </a:prstGeom>
          <a:noFill/>
          <a:ln/>
        </p:spPr>
        <p:txBody>
          <a:bodyPr wrap="square" lIns="0" tIns="0" rIns="0" bIns="0" rtlCol="0" anchor="ctr"/>
          <a:lstStyle/>
          <a:p>
            <a:pPr indent="0" marL="0">
              <a:buNone/>
            </a:pPr>
            <a:r>
              <a:rPr lang="en-US" sz="1400" b="1" dirty="0">
                <a:solidFill>
                  <a:srgbClr val="8A6F1F"/>
                </a:solidFill>
                <a:latin typeface="Cambria" pitchFamily="34" charset="0"/>
                <a:ea typeface="Cambria" pitchFamily="34" charset="-122"/>
                <a:cs typeface="Cambria" pitchFamily="34" charset="-120"/>
              </a:rPr>
              <a:t>Sparse · sparse coding</a:t>
            </a:r>
            <a:endParaRPr lang="en-US" sz="1400" dirty="0"/>
          </a:p>
        </p:txBody>
      </p:sp>
      <p:sp>
        <p:nvSpPr>
          <p:cNvPr id="9" name="Text 7"/>
          <p:cNvSpPr/>
          <p:nvPr/>
        </p:nvSpPr>
        <p:spPr>
          <a:xfrm>
            <a:off x="6580480" y="1993392"/>
            <a:ext cx="5044288" cy="1051560"/>
          </a:xfrm>
          <a:prstGeom prst="rect">
            <a:avLst/>
          </a:prstGeom>
          <a:noFill/>
          <a:ln/>
        </p:spPr>
        <p:txBody>
          <a:bodyPr wrap="square" lIns="0" tIns="0" rIns="0" bIns="0" rtlCol="0" anchor="t"/>
          <a:lstStyle/>
          <a:p>
            <a:pPr indent="0" marL="0">
              <a:lnSpc>
                <a:spcPct val="105000"/>
              </a:lnSpc>
              <a:buNone/>
            </a:pPr>
            <a:r>
              <a:rPr lang="en-US" sz="1150" dirty="0">
                <a:solidFill>
                  <a:srgbClr val="4A4A4A"/>
                </a:solidFill>
                <a:latin typeface="Calibri" pitchFamily="34" charset="0"/>
                <a:ea typeface="Calibri" pitchFamily="34" charset="-122"/>
                <a:cs typeface="Calibri" pitchFamily="34" charset="-120"/>
              </a:rPr>
              <a:t>Olshausen &amp; Field, Nature (1996) · Ng, sparse-autoencoder notes (2011) · Makhzani &amp; Frey, k-sparse AE (2014).</a:t>
            </a:r>
            <a:endParaRPr lang="en-US" sz="1150" dirty="0"/>
          </a:p>
        </p:txBody>
      </p:sp>
      <p:sp>
        <p:nvSpPr>
          <p:cNvPr id="10" name="Shape 8"/>
          <p:cNvSpPr/>
          <p:nvPr/>
        </p:nvSpPr>
        <p:spPr>
          <a:xfrm>
            <a:off x="566928" y="3291840"/>
            <a:ext cx="146304" cy="146304"/>
          </a:xfrm>
          <a:prstGeom prst="ellipse">
            <a:avLst/>
          </a:prstGeom>
          <a:solidFill>
            <a:srgbClr val="2C5F2D"/>
          </a:solidFill>
          <a:ln/>
        </p:spPr>
      </p:sp>
      <p:sp>
        <p:nvSpPr>
          <p:cNvPr id="11" name="Text 9"/>
          <p:cNvSpPr/>
          <p:nvPr/>
        </p:nvSpPr>
        <p:spPr>
          <a:xfrm>
            <a:off x="822960" y="3200400"/>
            <a:ext cx="5044288" cy="320040"/>
          </a:xfrm>
          <a:prstGeom prst="rect">
            <a:avLst/>
          </a:prstGeom>
          <a:noFill/>
          <a:ln/>
        </p:spPr>
        <p:txBody>
          <a:bodyPr wrap="square" lIns="0" tIns="0" rIns="0" bIns="0" rtlCol="0" anchor="ctr"/>
          <a:lstStyle/>
          <a:p>
            <a:pPr indent="0" marL="0">
              <a:buNone/>
            </a:pPr>
            <a:r>
              <a:rPr lang="en-US" sz="1400" b="1" dirty="0">
                <a:solidFill>
                  <a:srgbClr val="2C5F2D"/>
                </a:solidFill>
                <a:latin typeface="Cambria" pitchFamily="34" charset="0"/>
                <a:ea typeface="Cambria" pitchFamily="34" charset="-122"/>
                <a:cs typeface="Cambria" pitchFamily="34" charset="-120"/>
              </a:rPr>
              <a:t>Denoising · contractive · score</a:t>
            </a:r>
            <a:endParaRPr lang="en-US" sz="1400" dirty="0"/>
          </a:p>
        </p:txBody>
      </p:sp>
      <p:sp>
        <p:nvSpPr>
          <p:cNvPr id="12" name="Text 10"/>
          <p:cNvSpPr/>
          <p:nvPr/>
        </p:nvSpPr>
        <p:spPr>
          <a:xfrm>
            <a:off x="822960" y="3529584"/>
            <a:ext cx="5044288" cy="1051560"/>
          </a:xfrm>
          <a:prstGeom prst="rect">
            <a:avLst/>
          </a:prstGeom>
          <a:noFill/>
          <a:ln/>
        </p:spPr>
        <p:txBody>
          <a:bodyPr wrap="square" lIns="0" tIns="0" rIns="0" bIns="0" rtlCol="0" anchor="t"/>
          <a:lstStyle/>
          <a:p>
            <a:pPr indent="0" marL="0">
              <a:lnSpc>
                <a:spcPct val="105000"/>
              </a:lnSpc>
              <a:buNone/>
            </a:pPr>
            <a:r>
              <a:rPr lang="en-US" sz="1150" dirty="0">
                <a:solidFill>
                  <a:srgbClr val="4A4A4A"/>
                </a:solidFill>
                <a:latin typeface="Calibri" pitchFamily="34" charset="0"/>
                <a:ea typeface="Calibri" pitchFamily="34" charset="-122"/>
                <a:cs typeface="Calibri" pitchFamily="34" charset="-120"/>
              </a:rPr>
              <a:t>Vincent et al. (2008); Vincent, Neural Comp. (2011) · Rifai et al., ICML (2011) · Alain &amp; Bengio, JMLR (2014) · Song &amp; Ermon (2019); Ho et al. (2020).</a:t>
            </a:r>
            <a:endParaRPr lang="en-US" sz="1150" dirty="0"/>
          </a:p>
        </p:txBody>
      </p:sp>
      <p:sp>
        <p:nvSpPr>
          <p:cNvPr id="13" name="Shape 11"/>
          <p:cNvSpPr/>
          <p:nvPr/>
        </p:nvSpPr>
        <p:spPr>
          <a:xfrm>
            <a:off x="6324448" y="3291840"/>
            <a:ext cx="146304" cy="146304"/>
          </a:xfrm>
          <a:prstGeom prst="ellipse">
            <a:avLst/>
          </a:prstGeom>
          <a:solidFill>
            <a:srgbClr val="5A4E7C"/>
          </a:solidFill>
          <a:ln/>
        </p:spPr>
      </p:sp>
      <p:sp>
        <p:nvSpPr>
          <p:cNvPr id="14" name="Text 12"/>
          <p:cNvSpPr/>
          <p:nvPr/>
        </p:nvSpPr>
        <p:spPr>
          <a:xfrm>
            <a:off x="6580480" y="3200400"/>
            <a:ext cx="5044288" cy="320040"/>
          </a:xfrm>
          <a:prstGeom prst="rect">
            <a:avLst/>
          </a:prstGeom>
          <a:noFill/>
          <a:ln/>
        </p:spPr>
        <p:txBody>
          <a:bodyPr wrap="square" lIns="0" tIns="0" rIns="0" bIns="0" rtlCol="0" anchor="ctr"/>
          <a:lstStyle/>
          <a:p>
            <a:pPr indent="0" marL="0">
              <a:buNone/>
            </a:pPr>
            <a:r>
              <a:rPr lang="en-US" sz="1400" b="1" dirty="0">
                <a:solidFill>
                  <a:srgbClr val="5A4E7C"/>
                </a:solidFill>
                <a:latin typeface="Cambria" pitchFamily="34" charset="0"/>
                <a:ea typeface="Cambria" pitchFamily="34" charset="-122"/>
                <a:cs typeface="Cambria" pitchFamily="34" charset="-120"/>
              </a:rPr>
              <a:t>Variational autoencoders</a:t>
            </a:r>
            <a:endParaRPr lang="en-US" sz="1400" dirty="0"/>
          </a:p>
        </p:txBody>
      </p:sp>
      <p:sp>
        <p:nvSpPr>
          <p:cNvPr id="15" name="Text 13"/>
          <p:cNvSpPr/>
          <p:nvPr/>
        </p:nvSpPr>
        <p:spPr>
          <a:xfrm>
            <a:off x="6580480" y="3529584"/>
            <a:ext cx="5044288" cy="1051560"/>
          </a:xfrm>
          <a:prstGeom prst="rect">
            <a:avLst/>
          </a:prstGeom>
          <a:noFill/>
          <a:ln/>
        </p:spPr>
        <p:txBody>
          <a:bodyPr wrap="square" lIns="0" tIns="0" rIns="0" bIns="0" rtlCol="0" anchor="t"/>
          <a:lstStyle/>
          <a:p>
            <a:pPr indent="0" marL="0">
              <a:lnSpc>
                <a:spcPct val="105000"/>
              </a:lnSpc>
              <a:buNone/>
            </a:pPr>
            <a:r>
              <a:rPr lang="en-US" sz="1150" dirty="0">
                <a:solidFill>
                  <a:srgbClr val="4A4A4A"/>
                </a:solidFill>
                <a:latin typeface="Calibri" pitchFamily="34" charset="0"/>
                <a:ea typeface="Calibri" pitchFamily="34" charset="-122"/>
                <a:cs typeface="Calibri" pitchFamily="34" charset="-120"/>
              </a:rPr>
              <a:t>Kingma &amp; Welling (2014) · Rezende et al. (2014) · Higgins et al., β-VAE (2017).</a:t>
            </a:r>
            <a:endParaRPr lang="en-US" sz="1150" dirty="0"/>
          </a:p>
        </p:txBody>
      </p:sp>
      <p:sp>
        <p:nvSpPr>
          <p:cNvPr id="16" name="Shape 14"/>
          <p:cNvSpPr/>
          <p:nvPr/>
        </p:nvSpPr>
        <p:spPr>
          <a:xfrm>
            <a:off x="566928" y="4828032"/>
            <a:ext cx="146304" cy="146304"/>
          </a:xfrm>
          <a:prstGeom prst="ellipse">
            <a:avLst/>
          </a:prstGeom>
          <a:solidFill>
            <a:srgbClr val="1C5D63"/>
          </a:solidFill>
          <a:ln/>
        </p:spPr>
      </p:sp>
      <p:sp>
        <p:nvSpPr>
          <p:cNvPr id="17" name="Text 15"/>
          <p:cNvSpPr/>
          <p:nvPr/>
        </p:nvSpPr>
        <p:spPr>
          <a:xfrm>
            <a:off x="822960" y="4736592"/>
            <a:ext cx="5044288" cy="320040"/>
          </a:xfrm>
          <a:prstGeom prst="rect">
            <a:avLst/>
          </a:prstGeom>
          <a:noFill/>
          <a:ln/>
        </p:spPr>
        <p:txBody>
          <a:bodyPr wrap="square" lIns="0" tIns="0" rIns="0" bIns="0" rtlCol="0" anchor="ctr"/>
          <a:lstStyle/>
          <a:p>
            <a:pPr indent="0" marL="0">
              <a:buNone/>
            </a:pPr>
            <a:r>
              <a:rPr lang="en-US" sz="1400" b="1" dirty="0">
                <a:solidFill>
                  <a:srgbClr val="1C5D63"/>
                </a:solidFill>
                <a:latin typeface="Cambria" pitchFamily="34" charset="0"/>
                <a:ea typeface="Cambria" pitchFamily="34" charset="-122"/>
                <a:cs typeface="Cambria" pitchFamily="34" charset="-120"/>
              </a:rPr>
              <a:t>Astrophysics</a:t>
            </a:r>
            <a:endParaRPr lang="en-US" sz="1400" dirty="0"/>
          </a:p>
        </p:txBody>
      </p:sp>
      <p:sp>
        <p:nvSpPr>
          <p:cNvPr id="18" name="Text 16"/>
          <p:cNvSpPr/>
          <p:nvPr/>
        </p:nvSpPr>
        <p:spPr>
          <a:xfrm>
            <a:off x="822960" y="5065776"/>
            <a:ext cx="5044288" cy="1051560"/>
          </a:xfrm>
          <a:prstGeom prst="rect">
            <a:avLst/>
          </a:prstGeom>
          <a:noFill/>
          <a:ln/>
        </p:spPr>
        <p:txBody>
          <a:bodyPr wrap="square" lIns="0" tIns="0" rIns="0" bIns="0" rtlCol="0" anchor="t"/>
          <a:lstStyle/>
          <a:p>
            <a:pPr indent="0" marL="0">
              <a:lnSpc>
                <a:spcPct val="105000"/>
              </a:lnSpc>
              <a:buNone/>
            </a:pPr>
            <a:r>
              <a:rPr lang="en-US" sz="1150" dirty="0">
                <a:solidFill>
                  <a:srgbClr val="4A4A4A"/>
                </a:solidFill>
                <a:latin typeface="Calibri" pitchFamily="34" charset="0"/>
                <a:ea typeface="Calibri" pitchFamily="34" charset="-122"/>
                <a:cs typeface="Calibri" pitchFamily="34" charset="-120"/>
              </a:rPr>
              <a:t>Portillo et al., AJ (2020) · Melchior et al. (2023), spender · Liang et al., AJ (2023), redshift-invariant outliers · Arcelin et al., MNRAS (2021), VAE deblending.</a:t>
            </a:r>
            <a:endParaRPr lang="en-US" sz="1150" dirty="0"/>
          </a:p>
        </p:txBody>
      </p:sp>
      <p:sp>
        <p:nvSpPr>
          <p:cNvPr id="19" name="Shape 17"/>
          <p:cNvSpPr/>
          <p:nvPr/>
        </p:nvSpPr>
        <p:spPr>
          <a:xfrm>
            <a:off x="6324448" y="4828032"/>
            <a:ext cx="146304" cy="146304"/>
          </a:xfrm>
          <a:prstGeom prst="ellipse">
            <a:avLst/>
          </a:prstGeom>
          <a:solidFill>
            <a:srgbClr val="B85042"/>
          </a:solidFill>
          <a:ln/>
        </p:spPr>
      </p:sp>
      <p:sp>
        <p:nvSpPr>
          <p:cNvPr id="20" name="Text 18"/>
          <p:cNvSpPr/>
          <p:nvPr/>
        </p:nvSpPr>
        <p:spPr>
          <a:xfrm>
            <a:off x="6580480" y="4736592"/>
            <a:ext cx="5044288" cy="320040"/>
          </a:xfrm>
          <a:prstGeom prst="rect">
            <a:avLst/>
          </a:prstGeom>
          <a:noFill/>
          <a:ln/>
        </p:spPr>
        <p:txBody>
          <a:bodyPr wrap="square" lIns="0" tIns="0" rIns="0" bIns="0" rtlCol="0" anchor="ctr"/>
          <a:lstStyle/>
          <a:p>
            <a:pPr indent="0" marL="0">
              <a:buNone/>
            </a:pPr>
            <a:r>
              <a:rPr lang="en-US" sz="1400" b="1" dirty="0">
                <a:solidFill>
                  <a:srgbClr val="B85042"/>
                </a:solidFill>
                <a:latin typeface="Cambria" pitchFamily="34" charset="0"/>
                <a:ea typeface="Cambria" pitchFamily="34" charset="-122"/>
                <a:cs typeface="Cambria" pitchFamily="34" charset="-120"/>
              </a:rPr>
              <a:t>Particle physics</a:t>
            </a:r>
            <a:endParaRPr lang="en-US" sz="1400" dirty="0"/>
          </a:p>
        </p:txBody>
      </p:sp>
      <p:sp>
        <p:nvSpPr>
          <p:cNvPr id="21" name="Text 19"/>
          <p:cNvSpPr/>
          <p:nvPr/>
        </p:nvSpPr>
        <p:spPr>
          <a:xfrm>
            <a:off x="6580480" y="5065776"/>
            <a:ext cx="5044288" cy="1051560"/>
          </a:xfrm>
          <a:prstGeom prst="rect">
            <a:avLst/>
          </a:prstGeom>
          <a:noFill/>
          <a:ln/>
        </p:spPr>
        <p:txBody>
          <a:bodyPr wrap="square" lIns="0" tIns="0" rIns="0" bIns="0" rtlCol="0" anchor="t"/>
          <a:lstStyle/>
          <a:p>
            <a:pPr indent="0" marL="0">
              <a:lnSpc>
                <a:spcPct val="105000"/>
              </a:lnSpc>
              <a:buNone/>
            </a:pPr>
            <a:r>
              <a:rPr lang="en-US" sz="1150" dirty="0">
                <a:solidFill>
                  <a:srgbClr val="4A4A4A"/>
                </a:solidFill>
                <a:latin typeface="Calibri" pitchFamily="34" charset="0"/>
                <a:ea typeface="Calibri" pitchFamily="34" charset="-122"/>
                <a:cs typeface="Calibri" pitchFamily="34" charset="-120"/>
              </a:rPr>
              <a:t>Cerri et al., JHEP (2019) · Govorkova et al., Nat. Mach. Intell. (2022) · Nalisnick et al., ICLR (2019), OOD likelihoods.</a:t>
            </a:r>
            <a:endParaRPr lang="en-US" sz="1150" dirty="0"/>
          </a:p>
        </p:txBody>
      </p:sp>
      <p:sp>
        <p:nvSpPr>
          <p:cNvPr id="22" name="Text 20"/>
          <p:cNvSpPr/>
          <p:nvPr/>
        </p:nvSpPr>
        <p:spPr>
          <a:xfrm>
            <a:off x="566928" y="6400800"/>
            <a:ext cx="11064240" cy="320040"/>
          </a:xfrm>
          <a:prstGeom prst="rect">
            <a:avLst/>
          </a:prstGeom>
          <a:noFill/>
          <a:ln/>
        </p:spPr>
        <p:txBody>
          <a:bodyPr wrap="square" lIns="0" tIns="0" rIns="0" bIns="0" rtlCol="0" anchor="ctr"/>
          <a:lstStyle/>
          <a:p>
            <a:pPr algn="ctr" indent="0" marL="0">
              <a:buNone/>
            </a:pPr>
            <a:r>
              <a:rPr lang="en-US" sz="1150" i="1" dirty="0">
                <a:solidFill>
                  <a:srgbClr val="6E6358"/>
                </a:solidFill>
                <a:latin typeface="Calibri" pitchFamily="34" charset="0"/>
                <a:ea typeface="Calibri" pitchFamily="34" charset="-122"/>
                <a:cs typeface="Calibri" pitchFamily="34" charset="-120"/>
              </a:rPr>
              <a:t>Full derivations and figures are in the companion lecture notes.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Autoencoders — from PCA to the VAE, and their use in astrophysics &amp; particle physics</dc:title>
  <dc:subject>PptxGenJS Presentation</dc:subject>
  <dc:creator>Yongseok</dc:creator>
  <cp:lastModifiedBy>Yongseok</cp:lastModifiedBy>
  <cp:revision>1</cp:revision>
  <dcterms:created xsi:type="dcterms:W3CDTF">2026-06-11T05:44:43Z</dcterms:created>
  <dcterms:modified xsi:type="dcterms:W3CDTF">2026-06-11T05:44:43Z</dcterms:modified>
</cp:coreProperties>
</file>